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38B473-4AC4-4039-A9A5-87B9B824910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C3AA943-770C-4995-9DA2-F7D2D0FF08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6A1529D-4DDE-4416-B83D-6150377D1AC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000500" cy="1200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CONNECTE</a:t>
            </a:r>
          </a:p>
          <a:p>
            <a:pPr algn="l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EXPRESS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091FDD-3EDB-4969-AA85-BFCF01A143B8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428750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81F2393-28BB-4752-B8FC-05E982BD502B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7524750" cy="1952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COMUNICAÇÃO,</a:t>
            </a:r>
          </a:p>
          <a:p>
            <a:pPr algn="l"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POSICIONAMENTO</a:t>
            </a:r>
          </a:p>
          <a:p>
            <a:pPr algn="l"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 CONTEÚDO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2DB110-075C-49E8-8B86-99A16A73A5B3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PROJETO DE DESENVOLVIMENTO  ·  90 DIAS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D99031-5F82-4967-923B-F79361B9A379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43815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D5DDD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5DDD9"/>
                </a:solidFill>
                <a:latin typeface="DejaVu Sans"/>
                <a:ea typeface="DejaVu Sans"/>
                <a:cs typeface="DejaVu Sans"/>
              </a:rPr>
              <a:t>Rodrigo Fernandes</a:t>
            </a:r>
          </a:p>
          <a:p>
            <a:pPr algn="l">
              <a:defRPr sz="1350" b="0">
                <a:solidFill>
                  <a:srgbClr val="D5DDD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5DDD9"/>
                </a:solidFill>
                <a:latin typeface="DejaVu Sans"/>
                <a:ea typeface="DejaVu Sans"/>
                <a:cs typeface="DejaVu Sans"/>
              </a:rPr>
              <a:t>A Nova Oratória</a:t>
            </a:r>
          </a:p>
        </p:txBody>
      </p:sp>
    </p:spTree>
    <p:extLst>
      <p:ext uri="{BB962C8B-B14F-4D97-AF65-F5344CB8AC3E}">
        <p14:creationId xmlns:p14="http://schemas.microsoft.com/office/powerpoint/2010/main" val="74610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6136616-2BD2-4495-A880-652320B339F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E962E0-1F9D-41A3-9114-56A547B6859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8E27CFD-5F68-4D6A-A548-0A06E0BC639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pedido inicial parecia simples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558D5C-FFA5-4769-9348-FA0972BF548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8001000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“Preciso de alguém</a:t>
            </a:r>
          </a:p>
          <a:p>
            <a:pPr algn="l">
              <a:defRPr sz="37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para cuidar do marketing.”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883043-82A6-4D00-AF2E-9AAD0C24EF4E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809750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BBE0219-459E-4C78-9437-C12D1EE7C6B9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953000" cy="1238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Atualizar o site</a:t>
            </a:r>
          </a:p>
          <a:p>
            <a:pPr algn="l">
              <a:def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Cuidar das redes sociais</a:t>
            </a:r>
          </a:p>
          <a:p>
            <a:pPr algn="l">
              <a:def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Voltar a produzir conteúdo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6A1080C-8C93-4DB6-BA84-43BC99C6CC6B}"/>
              </a:ext>
            </a:extLst>
          </p:cNvPr>
          <p:cNvSpPr>
            <a:spLocks noGrp="1"/>
          </p:cNvSpPr>
          <p:nvPr/>
        </p:nvSpPr>
        <p:spPr>
          <a:xfrm>
            <a:off x="6334125" y="509587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7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Mas substituir quem executa não necessariamente resolve o problema.</a:t>
            </a:r>
          </a:p>
        </p:txBody>
      </p:sp>
    </p:spTree>
    <p:extLst>
      <p:ext uri="{BB962C8B-B14F-4D97-AF65-F5344CB8AC3E}">
        <p14:creationId xmlns:p14="http://schemas.microsoft.com/office/powerpoint/2010/main" val="91039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9DE4ED6-CB33-4BA6-9829-C89C9B9185F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37609AB-868D-4572-AF87-FD68F23E604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E2EA672-EA87-4452-B1CD-0FFC87630D03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problema começa antes do marketing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992FB5F-E817-48A7-90FC-974D9FCB2C21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AAD08D5-4266-46B5-B00B-8DEAE036467D}"/>
              </a:ext>
            </a:extLst>
          </p:cNvPr>
          <p:cNvSpPr>
            <a:spLocks noGrp="1"/>
          </p:cNvSpPr>
          <p:nvPr/>
        </p:nvSpPr>
        <p:spPr>
          <a:xfrm>
            <a:off x="828675" y="1714500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Site desatualizado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CF98760-6AEB-4986-AC33-F5F1F0A19B2F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B10638A-9E3C-4878-93EE-ED28C554D913}"/>
              </a:ext>
            </a:extLst>
          </p:cNvPr>
          <p:cNvSpPr>
            <a:spLocks noGrp="1"/>
          </p:cNvSpPr>
          <p:nvPr/>
        </p:nvSpPr>
        <p:spPr>
          <a:xfrm>
            <a:off x="828675" y="2162175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Redes predominantemente estáticas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71C1182-BE52-426E-BCD1-F43C19B224F0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C4BD73E-A5FA-4E6E-B19D-EB69205AB3B5}"/>
              </a:ext>
            </a:extLst>
          </p:cNvPr>
          <p:cNvSpPr>
            <a:spLocks noGrp="1"/>
          </p:cNvSpPr>
          <p:nvPr/>
        </p:nvSpPr>
        <p:spPr>
          <a:xfrm>
            <a:off x="828675" y="2609850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Pouca presença em vídeo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1E845DA-7F17-4F95-8594-5D90984D04D0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424BAE-907C-49DE-A845-F9031FC242CF}"/>
              </a:ext>
            </a:extLst>
          </p:cNvPr>
          <p:cNvSpPr>
            <a:spLocks noGrp="1"/>
          </p:cNvSpPr>
          <p:nvPr/>
        </p:nvSpPr>
        <p:spPr>
          <a:xfrm>
            <a:off x="828675" y="3057525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Baixa frequência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ACA403D-DE13-4C7D-B49A-C69B9F642553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49ABFAB-4BCB-4344-AB5D-C995AE15AE1F}"/>
              </a:ext>
            </a:extLst>
          </p:cNvPr>
          <p:cNvSpPr>
            <a:spLocks noGrp="1"/>
          </p:cNvSpPr>
          <p:nvPr/>
        </p:nvSpPr>
        <p:spPr>
          <a:xfrm>
            <a:off x="828675" y="3505200"/>
            <a:ext cx="5305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Pouca presença do fundador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3961D6D-6245-4602-AA0A-77BAFDCF4523}"/>
              </a:ext>
            </a:extLst>
          </p:cNvPr>
          <p:cNvSpPr>
            <a:spLocks noGrp="1"/>
          </p:cNvSpPr>
          <p:nvPr/>
        </p:nvSpPr>
        <p:spPr>
          <a:xfrm>
            <a:off x="6191250" y="18192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84FF27D-66BB-48C4-9FB5-FC917DFAD288}"/>
              </a:ext>
            </a:extLst>
          </p:cNvPr>
          <p:cNvSpPr>
            <a:spLocks noGrp="1"/>
          </p:cNvSpPr>
          <p:nvPr/>
        </p:nvSpPr>
        <p:spPr>
          <a:xfrm>
            <a:off x="6410325" y="1714500"/>
            <a:ext cx="5114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Sem estratégia central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2794A23-A88B-42E0-A927-F45EF717F0A0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0E408E4-A93C-480E-AA6B-B7AB03E787CE}"/>
              </a:ext>
            </a:extLst>
          </p:cNvPr>
          <p:cNvSpPr>
            <a:spLocks noGrp="1"/>
          </p:cNvSpPr>
          <p:nvPr/>
        </p:nvSpPr>
        <p:spPr>
          <a:xfrm>
            <a:off x="6410325" y="2238375"/>
            <a:ext cx="5114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Operação pouco transformada em conteúdo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0AA7A14-6BD8-4508-B284-597EFD1BA6C6}"/>
              </a:ext>
            </a:extLst>
          </p:cNvPr>
          <p:cNvSpPr>
            <a:spLocks noGrp="1"/>
          </p:cNvSpPr>
          <p:nvPr/>
        </p:nvSpPr>
        <p:spPr>
          <a:xfrm>
            <a:off x="6191250" y="28670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6779318-713C-4B0B-9C60-D7E4FBF5ED19}"/>
              </a:ext>
            </a:extLst>
          </p:cNvPr>
          <p:cNvSpPr>
            <a:spLocks noGrp="1"/>
          </p:cNvSpPr>
          <p:nvPr/>
        </p:nvSpPr>
        <p:spPr>
          <a:xfrm>
            <a:off x="6410325" y="2762250"/>
            <a:ext cx="5114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Presença digital abaixo da escala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4A5E920-FF6F-4D63-9274-A905CF62E05F}"/>
              </a:ext>
            </a:extLst>
          </p:cNvPr>
          <p:cNvSpPr>
            <a:spLocks noGrp="1"/>
          </p:cNvSpPr>
          <p:nvPr/>
        </p:nvSpPr>
        <p:spPr>
          <a:xfrm>
            <a:off x="6191250" y="3390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E93A287-4994-492D-B235-FB289AECF0F6}"/>
              </a:ext>
            </a:extLst>
          </p:cNvPr>
          <p:cNvSpPr>
            <a:spLocks noGrp="1"/>
          </p:cNvSpPr>
          <p:nvPr/>
        </p:nvSpPr>
        <p:spPr>
          <a:xfrm>
            <a:off x="6410325" y="3286125"/>
            <a:ext cx="5114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4D0"/>
                </a:solidFill>
                <a:latin typeface="DejaVu Sans"/>
                <a:ea typeface="DejaVu Sans"/>
                <a:cs typeface="DejaVu Sans"/>
              </a:rPr>
              <a:t>Comunicação sem rotina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D6B7A85-E6B8-4387-A240-FE65F248C3F8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648950" cy="28575"/>
          </a:xfrm>
          <a:prstGeom prst="rect">
            <a:avLst/>
          </a:prstGeom>
          <a:solidFill>
            <a:srgbClr val="33433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4F26D44-E7CA-40B7-87F3-A7CCB4CB0774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2476500" cy="9048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≈ 1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BA06F41-9B55-472D-9B24-E0CB0CB9CAB6}"/>
              </a:ext>
            </a:extLst>
          </p:cNvPr>
          <p:cNvSpPr>
            <a:spLocks noGrp="1"/>
          </p:cNvSpPr>
          <p:nvPr/>
        </p:nvSpPr>
        <p:spPr>
          <a:xfrm>
            <a:off x="2857500" y="4857750"/>
            <a:ext cx="33337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LEAD / MÊS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FDD901A-58F3-4E15-8BB3-5D59A7785D2F}"/>
              </a:ext>
            </a:extLst>
          </p:cNvPr>
          <p:cNvSpPr>
            <a:spLocks noGrp="1"/>
          </p:cNvSpPr>
          <p:nvPr/>
        </p:nvSpPr>
        <p:spPr>
          <a:xfrm>
            <a:off x="628650" y="552450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89968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89968F"/>
                </a:solidFill>
                <a:latin typeface="DejaVu Sans"/>
                <a:ea typeface="DejaVu Sans"/>
                <a:cs typeface="DejaVu Sans"/>
              </a:rPr>
              <a:t>quando chega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B9C31A2-E53A-4A1E-9396-61E4F52E77C0}"/>
              </a:ext>
            </a:extLst>
          </p:cNvPr>
          <p:cNvSpPr>
            <a:spLocks noGrp="1"/>
          </p:cNvSpPr>
          <p:nvPr/>
        </p:nvSpPr>
        <p:spPr>
          <a:xfrm>
            <a:off x="6619875" y="4667250"/>
            <a:ext cx="4572000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202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A operação cresceu.</a:t>
            </a:r>
          </a:p>
          <a:p>
            <a:pPr algn="r">
              <a:defRPr sz="202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A capacidade de comunicá-la ainda não.</a:t>
            </a:r>
          </a:p>
        </p:txBody>
      </p:sp>
    </p:spTree>
    <p:extLst>
      <p:ext uri="{BB962C8B-B14F-4D97-AF65-F5344CB8AC3E}">
        <p14:creationId xmlns:p14="http://schemas.microsoft.com/office/powerpoint/2010/main" val="35453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19718AAD-94AC-4462-A66E-D884496841A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CA5474-24CF-4E3A-8C45-DAF3611C139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23D1853-61A4-4E85-AC6B-A526076C5C7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Connecte já é maior do que parece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55AB25-EC51-458E-8C46-8B3560839323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2381250" cy="971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100+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F688B9F-90A2-46A3-A5E0-F2E40A593E1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09537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E9CD49-9BC2-4717-B46A-95995F08490B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FARMÁCIAS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0B96D2-22D8-41F4-8F6E-1EA2B548E261}"/>
              </a:ext>
            </a:extLst>
          </p:cNvPr>
          <p:cNvSpPr>
            <a:spLocks noGrp="1"/>
          </p:cNvSpPr>
          <p:nvPr/>
        </p:nvSpPr>
        <p:spPr>
          <a:xfrm>
            <a:off x="3333750" y="1666875"/>
            <a:ext cx="2095500" cy="971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5F76B9B-6FC3-4203-A903-201C04AE3B6B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109537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D6893C-9405-4288-BCDB-2EFD69FC1588}"/>
              </a:ext>
            </a:extLst>
          </p:cNvPr>
          <p:cNvSpPr>
            <a:spLocks noGrp="1"/>
          </p:cNvSpPr>
          <p:nvPr/>
        </p:nvSpPr>
        <p:spPr>
          <a:xfrm>
            <a:off x="3333750" y="28003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ESTADOS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9BF66D-6ADC-442C-AA60-7F9A86E47032}"/>
              </a:ext>
            </a:extLst>
          </p:cNvPr>
          <p:cNvSpPr>
            <a:spLocks noGrp="1"/>
          </p:cNvSpPr>
          <p:nvPr/>
        </p:nvSpPr>
        <p:spPr>
          <a:xfrm>
            <a:off x="6000750" y="1666875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≈450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5E1AE11-829B-4A17-A237-A1B775F718D0}"/>
              </a:ext>
            </a:extLst>
          </p:cNvPr>
          <p:cNvSpPr>
            <a:spLocks noGrp="1"/>
          </p:cNvSpPr>
          <p:nvPr/>
        </p:nvSpPr>
        <p:spPr>
          <a:xfrm>
            <a:off x="6000750" y="2647950"/>
            <a:ext cx="109537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F49E875-5013-4E7A-B2D3-A6CD7E3C92D5}"/>
              </a:ext>
            </a:extLst>
          </p:cNvPr>
          <p:cNvSpPr>
            <a:spLocks noGrp="1"/>
          </p:cNvSpPr>
          <p:nvPr/>
        </p:nvSpPr>
        <p:spPr>
          <a:xfrm>
            <a:off x="6000750" y="280035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MOTOBOYS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701BC33-6C48-449B-B3A0-7DFD3DE93A45}"/>
              </a:ext>
            </a:extLst>
          </p:cNvPr>
          <p:cNvSpPr>
            <a:spLocks noGrp="1"/>
          </p:cNvSpPr>
          <p:nvPr/>
        </p:nvSpPr>
        <p:spPr>
          <a:xfrm>
            <a:off x="9096375" y="1666875"/>
            <a:ext cx="2381250" cy="971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3H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24A4A40-C4CB-4CE0-A66F-9DA51A2B6AE3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109537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7482ABE-8BD8-4564-A5F8-345C141533AB}"/>
              </a:ext>
            </a:extLst>
          </p:cNvPr>
          <p:cNvSpPr>
            <a:spLocks noGrp="1"/>
          </p:cNvSpPr>
          <p:nvPr/>
        </p:nvSpPr>
        <p:spPr>
          <a:xfrm>
            <a:off x="9096375" y="2800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ENTREGA EXPRESSA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B07A443-0042-4DFB-B273-069353EE04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Grandes redes atendidas     Operação D-1     Especialização em Pharma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8C0EFF0-0F5A-4DBE-872C-6E0DFF5E36BD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A Connecte já construiu uma operação relevante.</a:t>
            </a:r>
          </a:p>
        </p:txBody>
      </p:sp>
    </p:spTree>
    <p:extLst>
      <p:ext uri="{BB962C8B-B14F-4D97-AF65-F5344CB8AC3E}">
        <p14:creationId xmlns:p14="http://schemas.microsoft.com/office/powerpoint/2010/main" val="1535057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0A711317-9A36-4454-A1B4-48C3D0FA78C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E619301-8AC4-427A-903E-17FC2EE4E22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2F4B841-5658-4216-8840-DD80DE5A1D1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comunicação ainda não acompanha a operação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64FE1B-791B-41FD-9460-3B3266E885A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VALOR REAL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341467-CDDA-4269-990B-6E60D599A11B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VALOR PERCEBIDO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F18DC56-E006-4988-8F9A-E6BBC2AD57E2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B7E59CD-02C8-4B58-952B-090B9610F10A}"/>
              </a:ext>
            </a:extLst>
          </p:cNvPr>
          <p:cNvSpPr>
            <a:spLocks noGrp="1"/>
          </p:cNvSpPr>
          <p:nvPr/>
        </p:nvSpPr>
        <p:spPr>
          <a:xfrm>
            <a:off x="828675" y="219075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Operação e experiência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D94C680-7831-4349-9E3A-52C0DBFED971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5ECBE9A-2A57-4856-B75A-A7B2602735D9}"/>
              </a:ext>
            </a:extLst>
          </p:cNvPr>
          <p:cNvSpPr>
            <a:spLocks noGrp="1"/>
          </p:cNvSpPr>
          <p:nvPr/>
        </p:nvSpPr>
        <p:spPr>
          <a:xfrm>
            <a:off x="828675" y="274320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Clientes e cobertura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2FFED6B-D7B7-4E4D-9DD2-23497EBB519E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9A9F6E1-0FE0-4634-888E-067A1C95856A}"/>
              </a:ext>
            </a:extLst>
          </p:cNvPr>
          <p:cNvSpPr>
            <a:spLocks noGrp="1"/>
          </p:cNvSpPr>
          <p:nvPr/>
        </p:nvSpPr>
        <p:spPr>
          <a:xfrm>
            <a:off x="828675" y="329565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Estrutura e conhecimento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8912E08-D20E-4C73-A56C-378EC659B1F3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C42849A-7E39-4608-BB91-6004137482EA}"/>
              </a:ext>
            </a:extLst>
          </p:cNvPr>
          <p:cNvSpPr>
            <a:spLocks noGrp="1"/>
          </p:cNvSpPr>
          <p:nvPr/>
        </p:nvSpPr>
        <p:spPr>
          <a:xfrm>
            <a:off x="828675" y="384810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Especialização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4755920-BB1A-4E52-A603-0DCFEA105DE4}"/>
              </a:ext>
            </a:extLst>
          </p:cNvPr>
          <p:cNvSpPr>
            <a:spLocks noGrp="1"/>
          </p:cNvSpPr>
          <p:nvPr/>
        </p:nvSpPr>
        <p:spPr>
          <a:xfrm>
            <a:off x="6667500" y="22955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EEE8566-A4BD-43EC-A9F1-562D1900D906}"/>
              </a:ext>
            </a:extLst>
          </p:cNvPr>
          <p:cNvSpPr>
            <a:spLocks noGrp="1"/>
          </p:cNvSpPr>
          <p:nvPr/>
        </p:nvSpPr>
        <p:spPr>
          <a:xfrm>
            <a:off x="6886575" y="219075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Baixa presença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7DA8360-E519-42A8-919E-D6FA0FEC925B}"/>
              </a:ext>
            </a:extLst>
          </p:cNvPr>
          <p:cNvSpPr>
            <a:spLocks noGrp="1"/>
          </p:cNvSpPr>
          <p:nvPr/>
        </p:nvSpPr>
        <p:spPr>
          <a:xfrm>
            <a:off x="6667500" y="28479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3595559-81F8-4570-A15D-0A8B90557858}"/>
              </a:ext>
            </a:extLst>
          </p:cNvPr>
          <p:cNvSpPr>
            <a:spLocks noGrp="1"/>
          </p:cNvSpPr>
          <p:nvPr/>
        </p:nvSpPr>
        <p:spPr>
          <a:xfrm>
            <a:off x="6886575" y="274320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Pouco conteúdo e vídeo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C10EA7A-4860-4FFC-A550-D1E27A52EAAB}"/>
              </a:ext>
            </a:extLst>
          </p:cNvPr>
          <p:cNvSpPr>
            <a:spLocks noGrp="1"/>
          </p:cNvSpPr>
          <p:nvPr/>
        </p:nvSpPr>
        <p:spPr>
          <a:xfrm>
            <a:off x="6667500" y="34004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7966E31-1DEB-4E86-BE25-579539F03AE0}"/>
              </a:ext>
            </a:extLst>
          </p:cNvPr>
          <p:cNvSpPr>
            <a:spLocks noGrp="1"/>
          </p:cNvSpPr>
          <p:nvPr/>
        </p:nvSpPr>
        <p:spPr>
          <a:xfrm>
            <a:off x="6886575" y="329565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Site defasado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6B193A8-2E1C-43E7-97D7-7D5A8E514F10}"/>
              </a:ext>
            </a:extLst>
          </p:cNvPr>
          <p:cNvSpPr>
            <a:spLocks noGrp="1"/>
          </p:cNvSpPr>
          <p:nvPr/>
        </p:nvSpPr>
        <p:spPr>
          <a:xfrm>
            <a:off x="6667500" y="39528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DE32CCE-18D0-42D2-AB76-536907C3BB36}"/>
              </a:ext>
            </a:extLst>
          </p:cNvPr>
          <p:cNvSpPr>
            <a:spLocks noGrp="1"/>
          </p:cNvSpPr>
          <p:nvPr/>
        </p:nvSpPr>
        <p:spPr>
          <a:xfrm>
            <a:off x="6886575" y="3848100"/>
            <a:ext cx="463867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Pouca presença do fundador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7BBC7EC-A8D5-4741-9EF8-3616D77A2CCF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3143250"/>
          </a:xfrm>
          <a:prstGeom prst="rect">
            <a:avLst/>
          </a:prstGeom>
          <a:solidFill>
            <a:srgbClr val="DCE2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5D6DA07-5850-4408-B920-8DB12E3F3F2E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9982200" cy="781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Connecte já possui uma operação maior</a:t>
            </a:r>
          </a:p>
          <a:p>
            <a:pPr algn="ctr">
              <a:def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do que sua comunicação faz parecer.</a:t>
            </a:r>
          </a:p>
        </p:txBody>
      </p:sp>
    </p:spTree>
    <p:extLst>
      <p:ext uri="{BB962C8B-B14F-4D97-AF65-F5344CB8AC3E}">
        <p14:creationId xmlns:p14="http://schemas.microsoft.com/office/powerpoint/2010/main" val="156329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045E189E-2B2D-40E9-B099-9D17F83612F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D0399B5-5B09-4F11-9DC5-2510CCB4B27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FA1A966-3046-443B-B931-1CF23F55DBE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Trocar a execução pode repetir o problema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0824390-B183-4E37-BE8A-1DBA5197AAD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A66C1C9-FED8-4BEA-A0EB-034FC71D8644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DESIGNER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15127D-12F1-452B-B821-5919BA12388A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A4F3DCE-36D7-40CC-BAD3-106BE0E95BF6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cria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0E5193E-0E7E-4057-984F-CEF7DD1BB38C}"/>
              </a:ext>
            </a:extLst>
          </p:cNvPr>
          <p:cNvSpPr>
            <a:spLocks noGrp="1"/>
          </p:cNvSpPr>
          <p:nvPr/>
        </p:nvSpPr>
        <p:spPr>
          <a:xfrm>
            <a:off x="3343275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AF7A5B4-8FDE-4A64-8393-FB7B4518B63D}"/>
              </a:ext>
            </a:extLst>
          </p:cNvPr>
          <p:cNvSpPr>
            <a:spLocks noGrp="1"/>
          </p:cNvSpPr>
          <p:nvPr/>
        </p:nvSpPr>
        <p:spPr>
          <a:xfrm>
            <a:off x="3343275" y="21717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EDITOR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3464BEA-202F-4161-B4F5-51898D93D6CD}"/>
              </a:ext>
            </a:extLst>
          </p:cNvPr>
          <p:cNvSpPr>
            <a:spLocks noGrp="1"/>
          </p:cNvSpPr>
          <p:nvPr/>
        </p:nvSpPr>
        <p:spPr>
          <a:xfrm>
            <a:off x="3343275" y="2600325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03679F-5546-49F4-96AB-87DF4FB0EAE5}"/>
              </a:ext>
            </a:extLst>
          </p:cNvPr>
          <p:cNvSpPr>
            <a:spLocks noGrp="1"/>
          </p:cNvSpPr>
          <p:nvPr/>
        </p:nvSpPr>
        <p:spPr>
          <a:xfrm>
            <a:off x="3343275" y="27813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edita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CDA6CD-295C-4A26-A9FD-4698D1AD2433}"/>
              </a:ext>
            </a:extLst>
          </p:cNvPr>
          <p:cNvSpPr>
            <a:spLocks noGrp="1"/>
          </p:cNvSpPr>
          <p:nvPr/>
        </p:nvSpPr>
        <p:spPr>
          <a:xfrm>
            <a:off x="6076950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64AC15-0920-4611-9C38-A434B564E2A3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SOCIAL MEDIA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A826221-BF1F-465D-A337-1C20069E3E83}"/>
              </a:ext>
            </a:extLst>
          </p:cNvPr>
          <p:cNvSpPr>
            <a:spLocks noGrp="1"/>
          </p:cNvSpPr>
          <p:nvPr/>
        </p:nvSpPr>
        <p:spPr>
          <a:xfrm>
            <a:off x="6076950" y="2600325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51998B1-A317-467A-9D19-C8E285878733}"/>
              </a:ext>
            </a:extLst>
          </p:cNvPr>
          <p:cNvSpPr>
            <a:spLocks noGrp="1"/>
          </p:cNvSpPr>
          <p:nvPr/>
        </p:nvSpPr>
        <p:spPr>
          <a:xfrm>
            <a:off x="6076950" y="27813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publica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B3E46B5-638D-411A-911F-D11009E97526}"/>
              </a:ext>
            </a:extLst>
          </p:cNvPr>
          <p:cNvSpPr>
            <a:spLocks noGrp="1"/>
          </p:cNvSpPr>
          <p:nvPr/>
        </p:nvSpPr>
        <p:spPr>
          <a:xfrm>
            <a:off x="8810625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2425F8-A6EA-4B51-A8CB-EFA51F04B36B}"/>
              </a:ext>
            </a:extLst>
          </p:cNvPr>
          <p:cNvSpPr>
            <a:spLocks noGrp="1"/>
          </p:cNvSpPr>
          <p:nvPr/>
        </p:nvSpPr>
        <p:spPr>
          <a:xfrm>
            <a:off x="8810625" y="21717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AGÊNCIA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05D923A-0B9F-4CD2-8E00-75AC1857A0D1}"/>
              </a:ext>
            </a:extLst>
          </p:cNvPr>
          <p:cNvSpPr>
            <a:spLocks noGrp="1"/>
          </p:cNvSpPr>
          <p:nvPr/>
        </p:nvSpPr>
        <p:spPr>
          <a:xfrm>
            <a:off x="8810625" y="2600325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FDFAC22-8CFF-4771-A9D0-543327DFCDE0}"/>
              </a:ext>
            </a:extLst>
          </p:cNvPr>
          <p:cNvSpPr>
            <a:spLocks noGrp="1"/>
          </p:cNvSpPr>
          <p:nvPr/>
        </p:nvSpPr>
        <p:spPr>
          <a:xfrm>
            <a:off x="8810625" y="27813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executa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DA73C53-BA92-4EB7-A5B7-093FCF1D3127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64895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visão, o conhecimento e a experiência do negócio precisam nascer de dentro.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7F4F4CB-62C0-4125-98A6-4E941554730E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648950" cy="685800"/>
          </a:xfrm>
          <a:prstGeom prst="rect">
            <a:avLst/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04B9F7A-716B-4C4F-B644-BA51A6620452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100774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EXECUÇÃO PODE SER TERCEIRIZADA.   A VISÃO NÃO.</a:t>
            </a:r>
          </a:p>
        </p:txBody>
      </p:sp>
    </p:spTree>
    <p:extLst>
      <p:ext uri="{BB962C8B-B14F-4D97-AF65-F5344CB8AC3E}">
        <p14:creationId xmlns:p14="http://schemas.microsoft.com/office/powerpoint/2010/main" val="71889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538F8A3-D5A1-4C7A-ADDE-419E4020BB7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5454C1-7F11-476B-A681-0584DC05E41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A MUDANÇA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15BFC6-822F-4C23-AB71-F2C0FCEB9B8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8102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TERCEIRIZAR</a:t>
            </a:r>
          </a:p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COMUNICAÇÃO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756E03-96F8-4E9E-B464-5BE86D1BD481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89968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9968F"/>
                </a:solidFill>
                <a:latin typeface="DejaVu Sans"/>
                <a:ea typeface="DejaVu Sans"/>
                <a:cs typeface="DejaVu Sans"/>
              </a:rPr>
              <a:t>PARA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5190D33-1049-4532-A334-09D2BC70EDD1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647700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4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LIDERAR</a:t>
            </a:r>
          </a:p>
          <a:p>
            <a:pPr algn="l">
              <a:defRPr sz="4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A COMUNICAÇÃO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E58D34-189D-4ACC-8C3E-A15BA435BEA3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714500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CB593FE-D181-4EAC-988C-26E8FFD3ACCC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962025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0">
                <a:solidFill>
                  <a:srgbClr val="D0D9D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0D9D5"/>
                </a:solidFill>
                <a:latin typeface="DejaVu Sans"/>
                <a:ea typeface="DejaVu Sans"/>
                <a:cs typeface="DejaVu Sans"/>
              </a:rPr>
              <a:t>Antes de ampliar a estrutura, a Connecte precisa desenvolver a capacidade de comunicar o próprio valor.</a:t>
            </a:r>
          </a:p>
        </p:txBody>
      </p:sp>
    </p:spTree>
    <p:extLst>
      <p:ext uri="{BB962C8B-B14F-4D97-AF65-F5344CB8AC3E}">
        <p14:creationId xmlns:p14="http://schemas.microsoft.com/office/powerpoint/2010/main" val="117967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0282E9D7-E2E9-40B8-8D0A-31889AB3E7F4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1F6680-2D5C-4A52-9E3E-E9D6351E465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226671-C693-4FE7-A1A9-92471F4C682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fundador como canal da empresa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7354108-DC32-440C-81AF-8B2DE37B6DD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MARINALDO NÃO PRECISA</a:t>
            </a:r>
          </a:p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VIRAR INFLUENCIADOR.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C7DCF2-6928-4AD0-9EA0-9D3C5A5BC066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6191250" cy="781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3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Precisa se tornar um comunicador</a:t>
            </a:r>
          </a:p>
          <a:p>
            <a:pPr algn="l">
              <a:defRPr sz="23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do próprio negócio.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3A6A47-CC25-4F3A-8D2F-95826ABC16B4}"/>
              </a:ext>
            </a:extLst>
          </p:cNvPr>
          <p:cNvSpPr>
            <a:spLocks noGrp="1"/>
          </p:cNvSpPr>
          <p:nvPr/>
        </p:nvSpPr>
        <p:spPr>
          <a:xfrm>
            <a:off x="7096125" y="14763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CONHECIMENTO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F6031DF-B3D2-4843-A4CD-3C5CB468B246}"/>
              </a:ext>
            </a:extLst>
          </p:cNvPr>
          <p:cNvSpPr>
            <a:spLocks noGrp="1"/>
          </p:cNvSpPr>
          <p:nvPr/>
        </p:nvSpPr>
        <p:spPr>
          <a:xfrm>
            <a:off x="7096125" y="1771650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EAE80F-FB6F-427F-8555-4B6EF6BDF441}"/>
              </a:ext>
            </a:extLst>
          </p:cNvPr>
          <p:cNvSpPr>
            <a:spLocks noGrp="1"/>
          </p:cNvSpPr>
          <p:nvPr/>
        </p:nvSpPr>
        <p:spPr>
          <a:xfrm>
            <a:off x="7096125" y="1895475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CONTEÚDO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8CB530-1463-4AD3-B45C-4CB7673BE901}"/>
              </a:ext>
            </a:extLst>
          </p:cNvPr>
          <p:cNvSpPr>
            <a:spLocks noGrp="1"/>
          </p:cNvSpPr>
          <p:nvPr/>
        </p:nvSpPr>
        <p:spPr>
          <a:xfrm>
            <a:off x="9191625" y="147637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EXPERIÊNCIA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CC9967A-71E6-4F6E-9DE6-CD5E5692B6CE}"/>
              </a:ext>
            </a:extLst>
          </p:cNvPr>
          <p:cNvSpPr>
            <a:spLocks noGrp="1"/>
          </p:cNvSpPr>
          <p:nvPr/>
        </p:nvSpPr>
        <p:spPr>
          <a:xfrm>
            <a:off x="9191625" y="1771650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06ECA6D-AB99-46AE-88B3-A535681DC6A5}"/>
              </a:ext>
            </a:extLst>
          </p:cNvPr>
          <p:cNvSpPr>
            <a:spLocks noGrp="1"/>
          </p:cNvSpPr>
          <p:nvPr/>
        </p:nvSpPr>
        <p:spPr>
          <a:xfrm>
            <a:off x="9191625" y="1895475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AUTORIDADE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539BC8-EA94-4A76-A27F-EF71ECF3A6ED}"/>
              </a:ext>
            </a:extLst>
          </p:cNvPr>
          <p:cNvSpPr>
            <a:spLocks noGrp="1"/>
          </p:cNvSpPr>
          <p:nvPr/>
        </p:nvSpPr>
        <p:spPr>
          <a:xfrm>
            <a:off x="7096125" y="2476500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OPERAÇÃO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03B3B6C-D1E6-4FE8-A302-A2C0E5D57125}"/>
              </a:ext>
            </a:extLst>
          </p:cNvPr>
          <p:cNvSpPr>
            <a:spLocks noGrp="1"/>
          </p:cNvSpPr>
          <p:nvPr/>
        </p:nvSpPr>
        <p:spPr>
          <a:xfrm>
            <a:off x="7096125" y="2771775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27583-E698-41FB-9DFC-103E8E617045}"/>
              </a:ext>
            </a:extLst>
          </p:cNvPr>
          <p:cNvSpPr>
            <a:spLocks noGrp="1"/>
          </p:cNvSpPr>
          <p:nvPr/>
        </p:nvSpPr>
        <p:spPr>
          <a:xfrm>
            <a:off x="7096125" y="2895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PROVA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2F1306-F102-42F2-89D4-838E81BCE5F3}"/>
              </a:ext>
            </a:extLst>
          </p:cNvPr>
          <p:cNvSpPr>
            <a:spLocks noGrp="1"/>
          </p:cNvSpPr>
          <p:nvPr/>
        </p:nvSpPr>
        <p:spPr>
          <a:xfrm>
            <a:off x="9191625" y="2476500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VISÃO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AB31A4F-D9B4-4264-BF04-090FD0B84754}"/>
              </a:ext>
            </a:extLst>
          </p:cNvPr>
          <p:cNvSpPr>
            <a:spLocks noGrp="1"/>
          </p:cNvSpPr>
          <p:nvPr/>
        </p:nvSpPr>
        <p:spPr>
          <a:xfrm>
            <a:off x="9191625" y="2771775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5AF8031-469C-40ED-A1D9-28F90E248B9B}"/>
              </a:ext>
            </a:extLst>
          </p:cNvPr>
          <p:cNvSpPr>
            <a:spLocks noGrp="1"/>
          </p:cNvSpPr>
          <p:nvPr/>
        </p:nvSpPr>
        <p:spPr>
          <a:xfrm>
            <a:off x="9191625" y="2895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POSICIONAMENTO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89F14D5-6D68-43BE-A1E1-1DA0455C0737}"/>
              </a:ext>
            </a:extLst>
          </p:cNvPr>
          <p:cNvSpPr>
            <a:spLocks noGrp="1"/>
          </p:cNvSpPr>
          <p:nvPr/>
        </p:nvSpPr>
        <p:spPr>
          <a:xfrm>
            <a:off x="7096125" y="347662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CASES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47E2D29-0724-4EF2-9B94-020A60199D20}"/>
              </a:ext>
            </a:extLst>
          </p:cNvPr>
          <p:cNvSpPr>
            <a:spLocks noGrp="1"/>
          </p:cNvSpPr>
          <p:nvPr/>
        </p:nvSpPr>
        <p:spPr>
          <a:xfrm>
            <a:off x="7096125" y="3771900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20CD7B5-D264-47CA-B864-A18C60D12771}"/>
              </a:ext>
            </a:extLst>
          </p:cNvPr>
          <p:cNvSpPr>
            <a:spLocks noGrp="1"/>
          </p:cNvSpPr>
          <p:nvPr/>
        </p:nvSpPr>
        <p:spPr>
          <a:xfrm>
            <a:off x="7096125" y="3895725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CONFIANÇA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B1E3388-900F-4F94-A78C-11ACA18583AF}"/>
              </a:ext>
            </a:extLst>
          </p:cNvPr>
          <p:cNvSpPr>
            <a:spLocks noGrp="1"/>
          </p:cNvSpPr>
          <p:nvPr/>
        </p:nvSpPr>
        <p:spPr>
          <a:xfrm>
            <a:off x="9191625" y="3476625"/>
            <a:ext cx="1905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BASTIDORES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2EE2430-BFD3-40F8-B711-D5D705EF5D32}"/>
              </a:ext>
            </a:extLst>
          </p:cNvPr>
          <p:cNvSpPr>
            <a:spLocks noGrp="1"/>
          </p:cNvSpPr>
          <p:nvPr/>
        </p:nvSpPr>
        <p:spPr>
          <a:xfrm>
            <a:off x="9191625" y="3771900"/>
            <a:ext cx="4286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6C1851B-5CC8-4C37-9C76-B0E148E013F4}"/>
              </a:ext>
            </a:extLst>
          </p:cNvPr>
          <p:cNvSpPr>
            <a:spLocks noGrp="1"/>
          </p:cNvSpPr>
          <p:nvPr/>
        </p:nvSpPr>
        <p:spPr>
          <a:xfrm>
            <a:off x="9191625" y="3895725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HUMANIZAÇÃO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0E61532-55A4-45E5-940F-9E99F98368B9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Connecte vende para empresas. Pessoas tomam essas decisões.</a:t>
            </a:r>
          </a:p>
        </p:txBody>
      </p:sp>
    </p:spTree>
    <p:extLst>
      <p:ext uri="{BB962C8B-B14F-4D97-AF65-F5344CB8AC3E}">
        <p14:creationId xmlns:p14="http://schemas.microsoft.com/office/powerpoint/2010/main" val="43252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E29AF02A-D761-4420-A5DD-E42AC02DFDA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D89A4B4-5FEC-4E9D-9254-45D8AE081B3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710923D-D01C-457A-B2ED-F54817C2F58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método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DCCE59-12B8-4804-9835-A075B614A47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A70D04-5290-4010-AEAB-5B7E4C6C96E0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EXTRAIR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0840CD2-E288-4871-A30F-3E00BB7A3F92}"/>
              </a:ext>
            </a:extLst>
          </p:cNvPr>
          <p:cNvSpPr>
            <a:spLocks noGrp="1"/>
          </p:cNvSpPr>
          <p:nvPr/>
        </p:nvSpPr>
        <p:spPr>
          <a:xfrm>
            <a:off x="2295525" y="2590800"/>
            <a:ext cx="4000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135B3D-1DB0-4319-BB0B-88237F6303CA}"/>
              </a:ext>
            </a:extLst>
          </p:cNvPr>
          <p:cNvSpPr>
            <a:spLocks noGrp="1"/>
          </p:cNvSpPr>
          <p:nvPr/>
        </p:nvSpPr>
        <p:spPr>
          <a:xfrm>
            <a:off x="2752725" y="19526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879486C-ADBA-45A0-A708-FBC5BA7DCEFF}"/>
              </a:ext>
            </a:extLst>
          </p:cNvPr>
          <p:cNvSpPr>
            <a:spLocks noGrp="1"/>
          </p:cNvSpPr>
          <p:nvPr/>
        </p:nvSpPr>
        <p:spPr>
          <a:xfrm>
            <a:off x="2752725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ORGANIZAR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C8E829-15FB-4113-844C-6E67A8345086}"/>
              </a:ext>
            </a:extLst>
          </p:cNvPr>
          <p:cNvSpPr>
            <a:spLocks noGrp="1"/>
          </p:cNvSpPr>
          <p:nvPr/>
        </p:nvSpPr>
        <p:spPr>
          <a:xfrm>
            <a:off x="4438650" y="2590800"/>
            <a:ext cx="4000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CD9B3B0-9816-4ADA-9049-673EF25EA839}"/>
              </a:ext>
            </a:extLst>
          </p:cNvPr>
          <p:cNvSpPr>
            <a:spLocks noGrp="1"/>
          </p:cNvSpPr>
          <p:nvPr/>
        </p:nvSpPr>
        <p:spPr>
          <a:xfrm>
            <a:off x="4895850" y="19526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242A327-3B13-47C0-A696-AE732CC1201C}"/>
              </a:ext>
            </a:extLst>
          </p:cNvPr>
          <p:cNvSpPr>
            <a:spLocks noGrp="1"/>
          </p:cNvSpPr>
          <p:nvPr/>
        </p:nvSpPr>
        <p:spPr>
          <a:xfrm>
            <a:off x="4895850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COMUNICAR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83B3FC5-D478-46CA-9A6B-2E0B6E29D041}"/>
              </a:ext>
            </a:extLst>
          </p:cNvPr>
          <p:cNvSpPr>
            <a:spLocks noGrp="1"/>
          </p:cNvSpPr>
          <p:nvPr/>
        </p:nvSpPr>
        <p:spPr>
          <a:xfrm>
            <a:off x="6581775" y="2590800"/>
            <a:ext cx="4000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7E44F24-3BAF-4441-9301-0486FDCEDDCF}"/>
              </a:ext>
            </a:extLst>
          </p:cNvPr>
          <p:cNvSpPr>
            <a:spLocks noGrp="1"/>
          </p:cNvSpPr>
          <p:nvPr/>
        </p:nvSpPr>
        <p:spPr>
          <a:xfrm>
            <a:off x="7038975" y="19526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CB8D562-7CB2-435C-969B-875BCAFE08BE}"/>
              </a:ext>
            </a:extLst>
          </p:cNvPr>
          <p:cNvSpPr>
            <a:spLocks noGrp="1"/>
          </p:cNvSpPr>
          <p:nvPr/>
        </p:nvSpPr>
        <p:spPr>
          <a:xfrm>
            <a:off x="7038975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PRODUZIR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2CFB227-588C-4CB3-95D5-277044E751FB}"/>
              </a:ext>
            </a:extLst>
          </p:cNvPr>
          <p:cNvSpPr>
            <a:spLocks noGrp="1"/>
          </p:cNvSpPr>
          <p:nvPr/>
        </p:nvSpPr>
        <p:spPr>
          <a:xfrm>
            <a:off x="8724900" y="2590800"/>
            <a:ext cx="4000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9B0D17-A6A7-4AFF-A713-63BE947942B9}"/>
              </a:ext>
            </a:extLst>
          </p:cNvPr>
          <p:cNvSpPr>
            <a:spLocks noGrp="1"/>
          </p:cNvSpPr>
          <p:nvPr/>
        </p:nvSpPr>
        <p:spPr>
          <a:xfrm>
            <a:off x="9182100" y="19526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49C184C-9A22-4E05-9238-0CEBA88A4BA4}"/>
              </a:ext>
            </a:extLst>
          </p:cNvPr>
          <p:cNvSpPr>
            <a:spLocks noGrp="1"/>
          </p:cNvSpPr>
          <p:nvPr/>
        </p:nvSpPr>
        <p:spPr>
          <a:xfrm>
            <a:off x="9182100" y="241935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DISTRIBUIR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A737B2F-6320-4F04-848C-1F14C9123561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990600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6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Antes de pensar no que postar, precisamos descobrir</a:t>
            </a:r>
          </a:p>
          <a:p>
            <a:pPr algn="ctr">
              <a:defRPr sz="26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que existe dentro da Connecte que merece ser comunicado.</a:t>
            </a:r>
          </a:p>
        </p:txBody>
      </p:sp>
    </p:spTree>
    <p:extLst>
      <p:ext uri="{BB962C8B-B14F-4D97-AF65-F5344CB8AC3E}">
        <p14:creationId xmlns:p14="http://schemas.microsoft.com/office/powerpoint/2010/main" val="19722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7958586F-4FF2-461F-9D45-8BD9816CE4F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C423F6-9FC0-44DF-B269-8E102C41BFA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96BCFB-789B-4307-AEA1-FFF9080C44D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01. Extrair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2A2DC5-D771-4BBF-B5BA-56D5C1B86D0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Descobrir o que o mercado ainda não consegue perceber.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C01B65-E341-482F-BAB7-98E4292C6273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856EBB-07C8-4FA5-8C11-52E4F5FDE6AE}"/>
              </a:ext>
            </a:extLst>
          </p:cNvPr>
          <p:cNvSpPr>
            <a:spLocks noGrp="1"/>
          </p:cNvSpPr>
          <p:nvPr/>
        </p:nvSpPr>
        <p:spPr>
          <a:xfrm>
            <a:off x="1047750" y="21431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História da Connecte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7D1088-DBD7-473C-AF1F-F06EE3A1081D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53CCF75-1458-4B4E-A127-E4098EF37272}"/>
              </a:ext>
            </a:extLst>
          </p:cNvPr>
          <p:cNvSpPr>
            <a:spLocks noGrp="1"/>
          </p:cNvSpPr>
          <p:nvPr/>
        </p:nvSpPr>
        <p:spPr>
          <a:xfrm>
            <a:off x="1047750" y="26384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História de Marinaldo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587923-756A-4749-B9B2-AA3336DD1F29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4FDB5C8-2C8C-4F46-A0E2-29A4136ED7A5}"/>
              </a:ext>
            </a:extLst>
          </p:cNvPr>
          <p:cNvSpPr>
            <a:spLocks noGrp="1"/>
          </p:cNvSpPr>
          <p:nvPr/>
        </p:nvSpPr>
        <p:spPr>
          <a:xfrm>
            <a:off x="1047750" y="31337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Conhecimento e experiência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34BA0DE-63E9-4302-913B-6568CC265BCA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A5C20D-BA27-4CFC-8F1C-7C2E0B415274}"/>
              </a:ext>
            </a:extLst>
          </p:cNvPr>
          <p:cNvSpPr>
            <a:spLocks noGrp="1"/>
          </p:cNvSpPr>
          <p:nvPr/>
        </p:nvSpPr>
        <p:spPr>
          <a:xfrm>
            <a:off x="1047750" y="36290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Diferenciais e operação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D063EB3-3C0A-4F70-AEEF-C3721520E4D3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B5FA0F-7783-49E1-A9FA-5DD2A7FD754F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Clientes e cases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FDF47AE-F302-466C-B0E4-7F084019ED57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15F5126-56CD-4585-AA91-AA4437F38E99}"/>
              </a:ext>
            </a:extLst>
          </p:cNvPr>
          <p:cNvSpPr>
            <a:spLocks noGrp="1"/>
          </p:cNvSpPr>
          <p:nvPr/>
        </p:nvSpPr>
        <p:spPr>
          <a:xfrm>
            <a:off x="1047750" y="46196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Mercado e concorrência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83F369D-54B0-419C-B036-D2EB1D5BED12}"/>
              </a:ext>
            </a:extLst>
          </p:cNvPr>
          <p:cNvSpPr>
            <a:spLocks noGrp="1"/>
          </p:cNvSpPr>
          <p:nvPr/>
        </p:nvSpPr>
        <p:spPr>
          <a:xfrm>
            <a:off x="5991225" y="21431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7D5F30C-47E7-446A-AF71-5AB15341DECD}"/>
              </a:ext>
            </a:extLst>
          </p:cNvPr>
          <p:cNvSpPr>
            <a:spLocks noGrp="1"/>
          </p:cNvSpPr>
          <p:nvPr/>
        </p:nvSpPr>
        <p:spPr>
          <a:xfrm>
            <a:off x="6429375" y="21431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Dores das farmácias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7B811E2-7EA8-4523-91E6-6376B138481E}"/>
              </a:ext>
            </a:extLst>
          </p:cNvPr>
          <p:cNvSpPr>
            <a:spLocks noGrp="1"/>
          </p:cNvSpPr>
          <p:nvPr/>
        </p:nvSpPr>
        <p:spPr>
          <a:xfrm>
            <a:off x="5991225" y="26384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723ABC1-7AB2-482B-A2E2-0C89126264CC}"/>
              </a:ext>
            </a:extLst>
          </p:cNvPr>
          <p:cNvSpPr>
            <a:spLocks noGrp="1"/>
          </p:cNvSpPr>
          <p:nvPr/>
        </p:nvSpPr>
        <p:spPr>
          <a:xfrm>
            <a:off x="6429375" y="26384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Decisores e objeções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B4FF7A2-D027-4EDC-B58D-788E0F1D50C9}"/>
              </a:ext>
            </a:extLst>
          </p:cNvPr>
          <p:cNvSpPr>
            <a:spLocks noGrp="1"/>
          </p:cNvSpPr>
          <p:nvPr/>
        </p:nvSpPr>
        <p:spPr>
          <a:xfrm>
            <a:off x="5991225" y="31337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5855774-0E47-402F-B98E-2356BAF33E0B}"/>
              </a:ext>
            </a:extLst>
          </p:cNvPr>
          <p:cNvSpPr>
            <a:spLocks noGrp="1"/>
          </p:cNvSpPr>
          <p:nvPr/>
        </p:nvSpPr>
        <p:spPr>
          <a:xfrm>
            <a:off x="6429375" y="31337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Visão de futuro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C4F754E-F2B3-4DE2-9F3B-842EB48F7881}"/>
              </a:ext>
            </a:extLst>
          </p:cNvPr>
          <p:cNvSpPr>
            <a:spLocks noGrp="1"/>
          </p:cNvSpPr>
          <p:nvPr/>
        </p:nvSpPr>
        <p:spPr>
          <a:xfrm>
            <a:off x="5991225" y="36290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1549F28-F683-402C-9B1E-EF0D70B1FCBC}"/>
              </a:ext>
            </a:extLst>
          </p:cNvPr>
          <p:cNvSpPr>
            <a:spLocks noGrp="1"/>
          </p:cNvSpPr>
          <p:nvPr/>
        </p:nvSpPr>
        <p:spPr>
          <a:xfrm>
            <a:off x="6429375" y="36290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Bastidores e aprendizados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9341ED7-2A32-4B6B-A208-60B0207344C6}"/>
              </a:ext>
            </a:extLst>
          </p:cNvPr>
          <p:cNvSpPr>
            <a:spLocks noGrp="1"/>
          </p:cNvSpPr>
          <p:nvPr/>
        </p:nvSpPr>
        <p:spPr>
          <a:xfrm>
            <a:off x="5991225" y="4124325"/>
            <a:ext cx="3619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963A4DB-FE01-41A8-8BD5-C553A4190F88}"/>
              </a:ext>
            </a:extLst>
          </p:cNvPr>
          <p:cNvSpPr>
            <a:spLocks noGrp="1"/>
          </p:cNvSpPr>
          <p:nvPr/>
        </p:nvSpPr>
        <p:spPr>
          <a:xfrm>
            <a:off x="6429375" y="4124325"/>
            <a:ext cx="4667250" cy="2762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Ambições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6FBBB25-B344-4040-B26D-6F377563A42C}"/>
              </a:ext>
            </a:extLst>
          </p:cNvPr>
          <p:cNvSpPr>
            <a:spLocks noGrp="1"/>
          </p:cNvSpPr>
          <p:nvPr/>
        </p:nvSpPr>
        <p:spPr>
          <a:xfrm>
            <a:off x="7239000" y="5238750"/>
            <a:ext cx="3857625" cy="647700"/>
          </a:xfrm>
          <a:prstGeom prst="rect">
            <a:avLst/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41705E9-2DC5-4C03-A411-D9F183D52AFD}"/>
              </a:ext>
            </a:extLst>
          </p:cNvPr>
          <p:cNvSpPr>
            <a:spLocks noGrp="1"/>
          </p:cNvSpPr>
          <p:nvPr/>
        </p:nvSpPr>
        <p:spPr>
          <a:xfrm>
            <a:off x="7429500" y="539115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MATÉRIA-PRIMA ESTRATÉGICA</a:t>
            </a:r>
          </a:p>
        </p:txBody>
      </p:sp>
    </p:spTree>
    <p:extLst>
      <p:ext uri="{BB962C8B-B14F-4D97-AF65-F5344CB8AC3E}">
        <p14:creationId xmlns:p14="http://schemas.microsoft.com/office/powerpoint/2010/main" val="212432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B1C2933-DF0E-4522-AB50-E2F315C783A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C59660-6A11-420D-BF7B-5CE8C7188B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2D0B728-FBB1-4B0D-B690-342B1D7D131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02. Organizar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388477-F061-4835-9740-D9F21B02167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Transformar conhecimento em estratégia.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7385C3B-A992-49FB-BB2C-56DB6D3B413E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D7AE086-68AD-4B72-8BD2-94157EC242C0}"/>
              </a:ext>
            </a:extLst>
          </p:cNvPr>
          <p:cNvSpPr>
            <a:spLocks noGrp="1"/>
          </p:cNvSpPr>
          <p:nvPr/>
        </p:nvSpPr>
        <p:spPr>
          <a:xfrm>
            <a:off x="82867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Posicionamento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30A8865-9A75-473A-AC54-DE688DCBEC56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6A932E-FBF3-4170-BC92-09BA0AD8272E}"/>
              </a:ext>
            </a:extLst>
          </p:cNvPr>
          <p:cNvSpPr>
            <a:spLocks noGrp="1"/>
          </p:cNvSpPr>
          <p:nvPr/>
        </p:nvSpPr>
        <p:spPr>
          <a:xfrm>
            <a:off x="828675" y="26098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Mensagem central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2DF3778-61B6-4185-8707-E74D57A92998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1FFCF5C-F5F8-4CDA-8366-E9A7607C39B4}"/>
              </a:ext>
            </a:extLst>
          </p:cNvPr>
          <p:cNvSpPr>
            <a:spLocks noGrp="1"/>
          </p:cNvSpPr>
          <p:nvPr/>
        </p:nvSpPr>
        <p:spPr>
          <a:xfrm>
            <a:off x="828675" y="30765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Narrativa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4FC5FB4-6CD9-4C33-8CBC-24672E51A7C9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EB08F7-BA59-4781-8E33-EBD3DAF3F616}"/>
              </a:ext>
            </a:extLst>
          </p:cNvPr>
          <p:cNvSpPr>
            <a:spLocks noGrp="1"/>
          </p:cNvSpPr>
          <p:nvPr/>
        </p:nvSpPr>
        <p:spPr>
          <a:xfrm>
            <a:off x="828675" y="35433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Públicos e decisores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35F65D0-9E9A-4C2F-9F77-457C6DB8A7EE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956F6D6-747A-4F51-92A5-76CCDAC1A4DA}"/>
              </a:ext>
            </a:extLst>
          </p:cNvPr>
          <p:cNvSpPr>
            <a:spLocks noGrp="1"/>
          </p:cNvSpPr>
          <p:nvPr/>
        </p:nvSpPr>
        <p:spPr>
          <a:xfrm>
            <a:off x="828675" y="40100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Pilares de comunicação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51CE14C-A2F1-4F20-84DD-3C5A46F1F734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AF81EF1-F0B2-4B83-9E1A-E5894D48EFFB}"/>
              </a:ext>
            </a:extLst>
          </p:cNvPr>
          <p:cNvSpPr>
            <a:spLocks noGrp="1"/>
          </p:cNvSpPr>
          <p:nvPr/>
        </p:nvSpPr>
        <p:spPr>
          <a:xfrm>
            <a:off x="828675" y="44767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Pilares de conteúdo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9841361-4305-4A5A-B8B1-2935EA22C702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AE3E100-F7BA-4965-906C-E799D2B0D330}"/>
              </a:ext>
            </a:extLst>
          </p:cNvPr>
          <p:cNvSpPr>
            <a:spLocks noGrp="1"/>
          </p:cNvSpPr>
          <p:nvPr/>
        </p:nvSpPr>
        <p:spPr>
          <a:xfrm>
            <a:off x="641032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Temas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FFD71CF-5C15-4129-A9B8-D2B89147AD9A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426C90B-4A01-4B6F-81F7-D22D20007D1D}"/>
              </a:ext>
            </a:extLst>
          </p:cNvPr>
          <p:cNvSpPr>
            <a:spLocks noGrp="1"/>
          </p:cNvSpPr>
          <p:nvPr/>
        </p:nvSpPr>
        <p:spPr>
          <a:xfrm>
            <a:off x="6410325" y="26098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Canais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AC2539E-DB32-475C-BC50-1543755F9DC6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3A80483-DE07-419B-BDC1-AB240897A03A}"/>
              </a:ext>
            </a:extLst>
          </p:cNvPr>
          <p:cNvSpPr>
            <a:spLocks noGrp="1"/>
          </p:cNvSpPr>
          <p:nvPr/>
        </p:nvSpPr>
        <p:spPr>
          <a:xfrm>
            <a:off x="6410325" y="30765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Tom de voz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9B70AAC-D0F6-449F-A6B7-7C7AB578EF9E}"/>
              </a:ext>
            </a:extLst>
          </p:cNvPr>
          <p:cNvSpPr>
            <a:spLocks noGrp="1"/>
          </p:cNvSpPr>
          <p:nvPr/>
        </p:nvSpPr>
        <p:spPr>
          <a:xfrm>
            <a:off x="6191250" y="36480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E0C3B28-2CB1-4CF7-A36D-50D64665B775}"/>
              </a:ext>
            </a:extLst>
          </p:cNvPr>
          <p:cNvSpPr>
            <a:spLocks noGrp="1"/>
          </p:cNvSpPr>
          <p:nvPr/>
        </p:nvSpPr>
        <p:spPr>
          <a:xfrm>
            <a:off x="6410325" y="35433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Comunicação do fundador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49C8692-941E-49DF-B415-79FDA6ABE79D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648950" cy="723900"/>
          </a:xfrm>
          <a:prstGeom prst="rect">
            <a:avLst/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46B92A2-48A5-48E3-AD0D-CD75633368A8}"/>
              </a:ext>
            </a:extLst>
          </p:cNvPr>
          <p:cNvSpPr>
            <a:spLocks noGrp="1"/>
          </p:cNvSpPr>
          <p:nvPr/>
        </p:nvSpPr>
        <p:spPr>
          <a:xfrm>
            <a:off x="847725" y="5343525"/>
            <a:ext cx="10172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QUE DIZER     PARA QUEM DIZER     COMO DIZER     POR QUE DIZER</a:t>
            </a:r>
          </a:p>
        </p:txBody>
      </p:sp>
    </p:spTree>
    <p:extLst>
      <p:ext uri="{BB962C8B-B14F-4D97-AF65-F5344CB8AC3E}">
        <p14:creationId xmlns:p14="http://schemas.microsoft.com/office/powerpoint/2010/main" val="72627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480F4BB9-578C-4607-AF27-2611452440C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5C81D6-E32B-4155-9414-C105EE29466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841D8E-E5A1-47AC-B396-524F1E50C43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03. Comunicar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1CD563-CBFA-4607-B394-FDCED1F43FE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7810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Desenvolver quem vai sustentar a estratégia.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8D04AE8-3482-4BDF-A492-08EDAB2CABC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43A4E0-159B-40DD-A864-40B7D182FEED}"/>
              </a:ext>
            </a:extLst>
          </p:cNvPr>
          <p:cNvSpPr>
            <a:spLocks noGrp="1"/>
          </p:cNvSpPr>
          <p:nvPr/>
        </p:nvSpPr>
        <p:spPr>
          <a:xfrm>
            <a:off x="723900" y="221932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Câmera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2612AD-B8C0-4301-966A-8E4EF07F49D1}"/>
              </a:ext>
            </a:extLst>
          </p:cNvPr>
          <p:cNvSpPr>
            <a:spLocks noGrp="1"/>
          </p:cNvSpPr>
          <p:nvPr/>
        </p:nvSpPr>
        <p:spPr>
          <a:xfrm>
            <a:off x="3257550" y="219075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594225E-DC30-488F-A80D-8B97A2410FE1}"/>
              </a:ext>
            </a:extLst>
          </p:cNvPr>
          <p:cNvSpPr>
            <a:spLocks noGrp="1"/>
          </p:cNvSpPr>
          <p:nvPr/>
        </p:nvSpPr>
        <p:spPr>
          <a:xfrm>
            <a:off x="3371850" y="221932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Vídeos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07662E4-3C14-4583-900F-B1CF2BB6954A}"/>
              </a:ext>
            </a:extLst>
          </p:cNvPr>
          <p:cNvSpPr>
            <a:spLocks noGrp="1"/>
          </p:cNvSpPr>
          <p:nvPr/>
        </p:nvSpPr>
        <p:spPr>
          <a:xfrm>
            <a:off x="5905500" y="219075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A808D8A-B633-4F03-8D3F-E89FBEB09DAE}"/>
              </a:ext>
            </a:extLst>
          </p:cNvPr>
          <p:cNvSpPr>
            <a:spLocks noGrp="1"/>
          </p:cNvSpPr>
          <p:nvPr/>
        </p:nvSpPr>
        <p:spPr>
          <a:xfrm>
            <a:off x="6019800" y="221932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Clareza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D8D0CF0-D560-4C8F-AC0D-8A2B13E055AE}"/>
              </a:ext>
            </a:extLst>
          </p:cNvPr>
          <p:cNvSpPr>
            <a:spLocks noGrp="1"/>
          </p:cNvSpPr>
          <p:nvPr/>
        </p:nvSpPr>
        <p:spPr>
          <a:xfrm>
            <a:off x="8553450" y="219075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638A2F4-7062-4D17-9152-AC2EE63BC883}"/>
              </a:ext>
            </a:extLst>
          </p:cNvPr>
          <p:cNvSpPr>
            <a:spLocks noGrp="1"/>
          </p:cNvSpPr>
          <p:nvPr/>
        </p:nvSpPr>
        <p:spPr>
          <a:xfrm>
            <a:off x="8667750" y="221932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Objetividade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359F38D-40EB-44E7-A089-32B531D1CAEB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2688DC4-F160-4120-8178-6C519FE94CA2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Storytelling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FAF220D-48FB-4E83-82BF-6C8550A598E9}"/>
              </a:ext>
            </a:extLst>
          </p:cNvPr>
          <p:cNvSpPr>
            <a:spLocks noGrp="1"/>
          </p:cNvSpPr>
          <p:nvPr/>
        </p:nvSpPr>
        <p:spPr>
          <a:xfrm>
            <a:off x="3257550" y="2809875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1891D3B-F39A-4A3E-9358-CC0EDF490462}"/>
              </a:ext>
            </a:extLst>
          </p:cNvPr>
          <p:cNvSpPr>
            <a:spLocks noGrp="1"/>
          </p:cNvSpPr>
          <p:nvPr/>
        </p:nvSpPr>
        <p:spPr>
          <a:xfrm>
            <a:off x="3371850" y="283845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Autoridade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80C4B75-1739-4A76-8F46-141D1F5DAD8F}"/>
              </a:ext>
            </a:extLst>
          </p:cNvPr>
          <p:cNvSpPr>
            <a:spLocks noGrp="1"/>
          </p:cNvSpPr>
          <p:nvPr/>
        </p:nvSpPr>
        <p:spPr>
          <a:xfrm>
            <a:off x="5905500" y="2809875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CF19C00-0C7E-48CF-BE35-B6B1C5B3F0DA}"/>
              </a:ext>
            </a:extLst>
          </p:cNvPr>
          <p:cNvSpPr>
            <a:spLocks noGrp="1"/>
          </p:cNvSpPr>
          <p:nvPr/>
        </p:nvSpPr>
        <p:spPr>
          <a:xfrm>
            <a:off x="6019800" y="283845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Reuniões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682EB71-D84C-40C3-A61D-848A82D7EEE3}"/>
              </a:ext>
            </a:extLst>
          </p:cNvPr>
          <p:cNvSpPr>
            <a:spLocks noGrp="1"/>
          </p:cNvSpPr>
          <p:nvPr/>
        </p:nvSpPr>
        <p:spPr>
          <a:xfrm>
            <a:off x="8553450" y="2809875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3092CF9-720D-45D1-9028-BB4D1D4DBB9A}"/>
              </a:ext>
            </a:extLst>
          </p:cNvPr>
          <p:cNvSpPr>
            <a:spLocks noGrp="1"/>
          </p:cNvSpPr>
          <p:nvPr/>
        </p:nvSpPr>
        <p:spPr>
          <a:xfrm>
            <a:off x="8667750" y="283845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Apresentações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64DEA17-B63C-4596-A89B-BD9A9BC1BDF0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958C552-3240-4F2D-BCE2-B6400DFCF9E2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Pitch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82B6FE8-8563-4FDF-8223-6496641E14BE}"/>
              </a:ext>
            </a:extLst>
          </p:cNvPr>
          <p:cNvSpPr>
            <a:spLocks noGrp="1"/>
          </p:cNvSpPr>
          <p:nvPr/>
        </p:nvSpPr>
        <p:spPr>
          <a:xfrm>
            <a:off x="3257550" y="342900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C27C14D-AE0B-4ED5-B78E-919974933626}"/>
              </a:ext>
            </a:extLst>
          </p:cNvPr>
          <p:cNvSpPr>
            <a:spLocks noGrp="1"/>
          </p:cNvSpPr>
          <p:nvPr/>
        </p:nvSpPr>
        <p:spPr>
          <a:xfrm>
            <a:off x="3371850" y="345757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Comunicação comercial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E466289-CDFF-4100-95EF-CDA41640973F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2381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C4776BE-423A-48B8-9D7C-ABC1C1405576}"/>
              </a:ext>
            </a:extLst>
          </p:cNvPr>
          <p:cNvSpPr>
            <a:spLocks noGrp="1"/>
          </p:cNvSpPr>
          <p:nvPr/>
        </p:nvSpPr>
        <p:spPr>
          <a:xfrm>
            <a:off x="6019800" y="3457575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Presença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064DCEB-713A-452D-869D-D22527B4C19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9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Uma estratégia ganha força quando o porta-voz consegue sustentá-la.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91BB606-242D-4E6D-BBE7-9ABC25335545}"/>
              </a:ext>
            </a:extLst>
          </p:cNvPr>
          <p:cNvSpPr>
            <a:spLocks noGrp="1"/>
          </p:cNvSpPr>
          <p:nvPr/>
        </p:nvSpPr>
        <p:spPr>
          <a:xfrm>
            <a:off x="4381500" y="5619750"/>
            <a:ext cx="3429000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42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95BB1E3-DE65-456E-A8B1-95D1E43B2E31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D3CD868-6D46-4EA7-B8A2-CD2399986F8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4CE30A-9293-4AFE-9D19-2F534C01A1B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04. Produzir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D3C0F0-AF28-4966-A101-303BB1C31EE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Transformar estratégia em ativos de comunicação.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18C8D0E-ED9B-44C4-B884-3C5A6A6E97D5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D80DFD-770D-4F7C-9D04-AD40918D06C9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09A460-DD18-4954-9CF3-71720264DCBA}"/>
              </a:ext>
            </a:extLst>
          </p:cNvPr>
          <p:cNvSpPr>
            <a:spLocks noGrp="1"/>
          </p:cNvSpPr>
          <p:nvPr/>
        </p:nvSpPr>
        <p:spPr>
          <a:xfrm>
            <a:off x="800100" y="2733675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DIREÇÃO ESTRATÉGICA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76999DA-C224-4E0E-90D8-264C174ED868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125" b="0">
                <a:solidFill>
                  <a:srgbClr val="BEC9C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EC9C4"/>
                </a:solidFill>
                <a:latin typeface="DejaVu Sans"/>
                <a:ea typeface="DejaVu Sans"/>
                <a:cs typeface="DejaVu Sans"/>
              </a:rPr>
              <a:t>Rodrigo Fernandes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EE567A-2E4B-41CF-A6C9-F7FC497E3F3A}"/>
              </a:ext>
            </a:extLst>
          </p:cNvPr>
          <p:cNvSpPr>
            <a:spLocks noGrp="1"/>
          </p:cNvSpPr>
          <p:nvPr/>
        </p:nvSpPr>
        <p:spPr>
          <a:xfrm>
            <a:off x="2990850" y="27241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3020C4D-F95D-4A60-9033-E83F3FC3BBCA}"/>
              </a:ext>
            </a:extLst>
          </p:cNvPr>
          <p:cNvSpPr>
            <a:spLocks noGrp="1"/>
          </p:cNvSpPr>
          <p:nvPr/>
        </p:nvSpPr>
        <p:spPr>
          <a:xfrm>
            <a:off x="3324225" y="2238375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6426EF9-8052-4D32-9350-55CCBD2BAE28}"/>
              </a:ext>
            </a:extLst>
          </p:cNvPr>
          <p:cNvSpPr>
            <a:spLocks noGrp="1"/>
          </p:cNvSpPr>
          <p:nvPr/>
        </p:nvSpPr>
        <p:spPr>
          <a:xfrm>
            <a:off x="3514725" y="24003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FA78E9-0239-4427-B159-3F8A964E96E2}"/>
              </a:ext>
            </a:extLst>
          </p:cNvPr>
          <p:cNvSpPr>
            <a:spLocks noGrp="1"/>
          </p:cNvSpPr>
          <p:nvPr/>
        </p:nvSpPr>
        <p:spPr>
          <a:xfrm>
            <a:off x="3514725" y="2733675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CONHECIMENTO + VOZ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BA4FC91-70B0-4E8B-9521-A7D976D25FC9}"/>
              </a:ext>
            </a:extLst>
          </p:cNvPr>
          <p:cNvSpPr>
            <a:spLocks noGrp="1"/>
          </p:cNvSpPr>
          <p:nvPr/>
        </p:nvSpPr>
        <p:spPr>
          <a:xfrm>
            <a:off x="3514725" y="326707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Marinaldo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E7B1EB5-5BC3-428E-9DB1-4155C88CB04E}"/>
              </a:ext>
            </a:extLst>
          </p:cNvPr>
          <p:cNvSpPr>
            <a:spLocks noGrp="1"/>
          </p:cNvSpPr>
          <p:nvPr/>
        </p:nvSpPr>
        <p:spPr>
          <a:xfrm>
            <a:off x="5705475" y="27241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BFC0917-5EB0-4B1A-AA09-8DE3C13DAFCE}"/>
              </a:ext>
            </a:extLst>
          </p:cNvPr>
          <p:cNvSpPr>
            <a:spLocks noGrp="1"/>
          </p:cNvSpPr>
          <p:nvPr/>
        </p:nvSpPr>
        <p:spPr>
          <a:xfrm>
            <a:off x="6038850" y="2238375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2282A6-4A3B-4B5E-8128-4F7815921F40}"/>
              </a:ext>
            </a:extLst>
          </p:cNvPr>
          <p:cNvSpPr>
            <a:spLocks noGrp="1"/>
          </p:cNvSpPr>
          <p:nvPr/>
        </p:nvSpPr>
        <p:spPr>
          <a:xfrm>
            <a:off x="6229350" y="24003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6F8A90A-726E-48DD-9A6C-84A5ACA8B31E}"/>
              </a:ext>
            </a:extLst>
          </p:cNvPr>
          <p:cNvSpPr>
            <a:spLocks noGrp="1"/>
          </p:cNvSpPr>
          <p:nvPr/>
        </p:nvSpPr>
        <p:spPr>
          <a:xfrm>
            <a:off x="6229350" y="2733675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CAPTAÇÃO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0E5A3E1-446C-421B-9BF0-0E5D6F24DDB2}"/>
              </a:ext>
            </a:extLst>
          </p:cNvPr>
          <p:cNvSpPr>
            <a:spLocks noGrp="1"/>
          </p:cNvSpPr>
          <p:nvPr/>
        </p:nvSpPr>
        <p:spPr>
          <a:xfrm>
            <a:off x="6229350" y="326707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Storymaker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2FE9559-A328-4369-A688-39EC441D2001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E5A5B28-622F-4D94-9204-F1DC57412262}"/>
              </a:ext>
            </a:extLst>
          </p:cNvPr>
          <p:cNvSpPr>
            <a:spLocks noGrp="1"/>
          </p:cNvSpPr>
          <p:nvPr/>
        </p:nvSpPr>
        <p:spPr>
          <a:xfrm>
            <a:off x="8753475" y="2238375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54D2502-9FC9-4D76-B341-78F8DD96BB9E}"/>
              </a:ext>
            </a:extLst>
          </p:cNvPr>
          <p:cNvSpPr>
            <a:spLocks noGrp="1"/>
          </p:cNvSpPr>
          <p:nvPr/>
        </p:nvSpPr>
        <p:spPr>
          <a:xfrm>
            <a:off x="8943975" y="24003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5AB3EA8-8B6C-425A-8F99-B22023444B1E}"/>
              </a:ext>
            </a:extLst>
          </p:cNvPr>
          <p:cNvSpPr>
            <a:spLocks noGrp="1"/>
          </p:cNvSpPr>
          <p:nvPr/>
        </p:nvSpPr>
        <p:spPr>
          <a:xfrm>
            <a:off x="8943975" y="2733675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EDIÇÃO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B52691B-D078-4ABB-9101-BC8B61121708}"/>
              </a:ext>
            </a:extLst>
          </p:cNvPr>
          <p:cNvSpPr>
            <a:spLocks noGrp="1"/>
          </p:cNvSpPr>
          <p:nvPr/>
        </p:nvSpPr>
        <p:spPr>
          <a:xfrm>
            <a:off x="8943975" y="326707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Produção dos ativos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0D968CD-D655-47D3-AA0A-70A220671515}"/>
              </a:ext>
            </a:extLst>
          </p:cNvPr>
          <p:cNvSpPr>
            <a:spLocks noGrp="1"/>
          </p:cNvSpPr>
          <p:nvPr/>
        </p:nvSpPr>
        <p:spPr>
          <a:xfrm>
            <a:off x="3952875" y="4476750"/>
            <a:ext cx="4286250" cy="723900"/>
          </a:xfrm>
          <a:prstGeom prst="roundRect">
            <a:avLst>
              <a:gd name="adj" fmla="val 10526"/>
            </a:avLst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057A4AC-66BE-479A-9D55-54B670FA2E1E}"/>
              </a:ext>
            </a:extLst>
          </p:cNvPr>
          <p:cNvSpPr>
            <a:spLocks noGrp="1"/>
          </p:cNvSpPr>
          <p:nvPr/>
        </p:nvSpPr>
        <p:spPr>
          <a:xfrm>
            <a:off x="4143375" y="4619625"/>
            <a:ext cx="390525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325" b="1">
                <a:solidFill>
                  <a:srgbClr val="101A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1A17"/>
                </a:solidFill>
                <a:latin typeface="DejaVu Sans"/>
                <a:ea typeface="DejaVu Sans"/>
                <a:cs typeface="DejaVu Sans"/>
              </a:rPr>
              <a:t>CONTEÚDO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3BDA6D9-7647-4929-8D88-DCC294162E87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648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Estratégia sem execução não ganha mercado.</a:t>
            </a:r>
          </a:p>
        </p:txBody>
      </p:sp>
    </p:spTree>
    <p:extLst>
      <p:ext uri="{BB962C8B-B14F-4D97-AF65-F5344CB8AC3E}">
        <p14:creationId xmlns:p14="http://schemas.microsoft.com/office/powerpoint/2010/main" val="71840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A09891C1-CB5B-42A1-BD7A-23F68832EF53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19F421-8400-4FF6-BF47-2F5841FD7C4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5EA384-8E7A-4D18-9013-146C780CA3D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Sair do estático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8499943-BD48-4A6E-A16B-A2C5A35C878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ANTES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7068FA-386F-496F-9B2E-8657DCD139E9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NOVA COMUNICAÇÃO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185CCED-3417-44F6-8067-C65260E1B340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DB082F-A0AB-4314-B038-C6242B575E98}"/>
              </a:ext>
            </a:extLst>
          </p:cNvPr>
          <p:cNvSpPr>
            <a:spLocks noGrp="1"/>
          </p:cNvSpPr>
          <p:nvPr/>
        </p:nvSpPr>
        <p:spPr>
          <a:xfrm>
            <a:off x="828675" y="21907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Cards e artes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82ED80B-0F0B-43DA-AB75-9F86FD1BB3F8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A0E6C5-DBF3-4CDA-B493-3A0CA1DF4871}"/>
              </a:ext>
            </a:extLst>
          </p:cNvPr>
          <p:cNvSpPr>
            <a:spLocks noGrp="1"/>
          </p:cNvSpPr>
          <p:nvPr/>
        </p:nvSpPr>
        <p:spPr>
          <a:xfrm>
            <a:off x="828675" y="27432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Comunicados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04A8B7-C7D9-4DE2-9821-7A28D1744703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7152315-1C84-4488-9EBF-1E72F95D49D3}"/>
              </a:ext>
            </a:extLst>
          </p:cNvPr>
          <p:cNvSpPr>
            <a:spLocks noGrp="1"/>
          </p:cNvSpPr>
          <p:nvPr/>
        </p:nvSpPr>
        <p:spPr>
          <a:xfrm>
            <a:off x="828675" y="32956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Conteúdo institucional frio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3FBD71-A8F0-4AC1-B1B0-590B870DB8DB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C10E77-E865-4A68-BB52-FB951C29BE27}"/>
              </a:ext>
            </a:extLst>
          </p:cNvPr>
          <p:cNvSpPr>
            <a:spLocks noGrp="1"/>
          </p:cNvSpPr>
          <p:nvPr/>
        </p:nvSpPr>
        <p:spPr>
          <a:xfrm>
            <a:off x="828675" y="38481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Baixa presença humana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4631046-96CB-4208-BE41-462CB31314FD}"/>
              </a:ext>
            </a:extLst>
          </p:cNvPr>
          <p:cNvSpPr>
            <a:spLocks noGrp="1"/>
          </p:cNvSpPr>
          <p:nvPr/>
        </p:nvSpPr>
        <p:spPr>
          <a:xfrm>
            <a:off x="6667500" y="22955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26D5B5-850B-4A90-9127-EE8B0354C607}"/>
              </a:ext>
            </a:extLst>
          </p:cNvPr>
          <p:cNvSpPr>
            <a:spLocks noGrp="1"/>
          </p:cNvSpPr>
          <p:nvPr/>
        </p:nvSpPr>
        <p:spPr>
          <a:xfrm>
            <a:off x="6886575" y="21907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Vídeos e pessoas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CC48372-09C9-4E43-A1AF-0ABCA5AB0A55}"/>
              </a:ext>
            </a:extLst>
          </p:cNvPr>
          <p:cNvSpPr>
            <a:spLocks noGrp="1"/>
          </p:cNvSpPr>
          <p:nvPr/>
        </p:nvSpPr>
        <p:spPr>
          <a:xfrm>
            <a:off x="6667500" y="28479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E59DC8D-EBBF-4F3D-9AC2-1AF4DD5E2798}"/>
              </a:ext>
            </a:extLst>
          </p:cNvPr>
          <p:cNvSpPr>
            <a:spLocks noGrp="1"/>
          </p:cNvSpPr>
          <p:nvPr/>
        </p:nvSpPr>
        <p:spPr>
          <a:xfrm>
            <a:off x="6886575" y="27432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Opiniões e bastidores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450F358-67FD-480E-A14D-6B212175D563}"/>
              </a:ext>
            </a:extLst>
          </p:cNvPr>
          <p:cNvSpPr>
            <a:spLocks noGrp="1"/>
          </p:cNvSpPr>
          <p:nvPr/>
        </p:nvSpPr>
        <p:spPr>
          <a:xfrm>
            <a:off x="6667500" y="34004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A3D45F2-76FE-445D-861C-C66A1C1D0D68}"/>
              </a:ext>
            </a:extLst>
          </p:cNvPr>
          <p:cNvSpPr>
            <a:spLocks noGrp="1"/>
          </p:cNvSpPr>
          <p:nvPr/>
        </p:nvSpPr>
        <p:spPr>
          <a:xfrm>
            <a:off x="6886575" y="32956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Cases, operação e histórias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6ED2E2A-7A82-43E5-AD37-7A73741858C5}"/>
              </a:ext>
            </a:extLst>
          </p:cNvPr>
          <p:cNvSpPr>
            <a:spLocks noGrp="1"/>
          </p:cNvSpPr>
          <p:nvPr/>
        </p:nvSpPr>
        <p:spPr>
          <a:xfrm>
            <a:off x="6667500" y="39528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255F8A6-EBA1-4CA3-BD2B-D7F97955CF05}"/>
              </a:ext>
            </a:extLst>
          </p:cNvPr>
          <p:cNvSpPr>
            <a:spLocks noGrp="1"/>
          </p:cNvSpPr>
          <p:nvPr/>
        </p:nvSpPr>
        <p:spPr>
          <a:xfrm>
            <a:off x="6886575" y="38481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Provas e autoridade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B62E173-3DDB-4DFB-AC99-237A569BC84E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3143250"/>
          </a:xfrm>
          <a:prstGeom prst="rect">
            <a:avLst/>
          </a:prstGeom>
          <a:solidFill>
            <a:srgbClr val="DCE2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03A8E38-C72A-4706-B711-B4A7DB2942FB}"/>
              </a:ext>
            </a:extLst>
          </p:cNvPr>
          <p:cNvSpPr>
            <a:spLocks noGrp="1"/>
          </p:cNvSpPr>
          <p:nvPr/>
        </p:nvSpPr>
        <p:spPr>
          <a:xfrm>
            <a:off x="1000125" y="5286375"/>
            <a:ext cx="1019175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1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Menos comunicação sobre a empresa.</a:t>
            </a:r>
          </a:p>
          <a:p>
            <a:pPr algn="ctr">
              <a:defRPr sz="21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Mais comunicação através de quem constrói a empresa.</a:t>
            </a:r>
          </a:p>
        </p:txBody>
      </p:sp>
    </p:spTree>
    <p:extLst>
      <p:ext uri="{BB962C8B-B14F-4D97-AF65-F5344CB8AC3E}">
        <p14:creationId xmlns:p14="http://schemas.microsoft.com/office/powerpoint/2010/main" val="881042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9C93B735-1B88-4025-8803-348FBC91A745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5603B2-82C1-468F-A209-6FD196FE559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7D63E9-CD89-45FD-B3C2-EEAA2123119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operação vira conteúdo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17D136-0021-4E73-8B4E-2F967DA0FA2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D37FEC-3D07-477A-A4E2-D389919F5F74}"/>
              </a:ext>
            </a:extLst>
          </p:cNvPr>
          <p:cNvSpPr>
            <a:spLocks noGrp="1"/>
          </p:cNvSpPr>
          <p:nvPr/>
        </p:nvSpPr>
        <p:spPr>
          <a:xfrm>
            <a:off x="1085850" y="157162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que uma rede precisa avaliar antes de contratar delivery?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3852505-E2F2-46C2-94F7-B4850D2338FC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05DE6CA-427A-44B6-BF95-C0DB544B1C37}"/>
              </a:ext>
            </a:extLst>
          </p:cNvPr>
          <p:cNvSpPr>
            <a:spLocks noGrp="1"/>
          </p:cNvSpPr>
          <p:nvPr/>
        </p:nvSpPr>
        <p:spPr>
          <a:xfrm>
            <a:off x="1085850" y="23526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Por que entregar medicamento em 3 horas exige outra operação?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EDFC28-A0ED-47EE-BDBE-8369F70B9ABE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965AE33-AD23-433E-9DC2-8F91A72E748D}"/>
              </a:ext>
            </a:extLst>
          </p:cNvPr>
          <p:cNvSpPr>
            <a:spLocks noGrp="1"/>
          </p:cNvSpPr>
          <p:nvPr/>
        </p:nvSpPr>
        <p:spPr>
          <a:xfrm>
            <a:off x="1085850" y="313372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que aprendemos operando com aproximadamente 450 motoboys?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21C0E4-9D76-41CF-A2E8-CFD577C3C69E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187D651-32E4-46D4-8FC5-7E19AB59B041}"/>
              </a:ext>
            </a:extLst>
          </p:cNvPr>
          <p:cNvSpPr>
            <a:spLocks noGrp="1"/>
          </p:cNvSpPr>
          <p:nvPr/>
        </p:nvSpPr>
        <p:spPr>
          <a:xfrm>
            <a:off x="1085850" y="39147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D-1 ou Express: quando cada modelo faz sentido?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716EF14-2294-48C1-AC9A-9CBDA5C60050}"/>
              </a:ext>
            </a:extLst>
          </p:cNvPr>
          <p:cNvSpPr>
            <a:spLocks noGrp="1"/>
          </p:cNvSpPr>
          <p:nvPr/>
        </p:nvSpPr>
        <p:spPr>
          <a:xfrm>
            <a:off x="6086475" y="15716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C001D6A-0FD6-445E-A547-D26BFB7C60E7}"/>
              </a:ext>
            </a:extLst>
          </p:cNvPr>
          <p:cNvSpPr>
            <a:spLocks noGrp="1"/>
          </p:cNvSpPr>
          <p:nvPr/>
        </p:nvSpPr>
        <p:spPr>
          <a:xfrm>
            <a:off x="6562725" y="157162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que acontece depois da compra digital de um medicamento?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F201463-6B35-4289-8EE3-EB7EBC8B2641}"/>
              </a:ext>
            </a:extLst>
          </p:cNvPr>
          <p:cNvSpPr>
            <a:spLocks noGrp="1"/>
          </p:cNvSpPr>
          <p:nvPr/>
        </p:nvSpPr>
        <p:spPr>
          <a:xfrm>
            <a:off x="6086475" y="235267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DB1374-807F-4F73-8C7F-B4AB7F6D9CAB}"/>
              </a:ext>
            </a:extLst>
          </p:cNvPr>
          <p:cNvSpPr>
            <a:spLocks noGrp="1"/>
          </p:cNvSpPr>
          <p:nvPr/>
        </p:nvSpPr>
        <p:spPr>
          <a:xfrm>
            <a:off x="6562725" y="23526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Quais erros aumentam o custo da última milha?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3DD3478-BD1D-432E-A8A6-FDB841780735}"/>
              </a:ext>
            </a:extLst>
          </p:cNvPr>
          <p:cNvSpPr>
            <a:spLocks noGrp="1"/>
          </p:cNvSpPr>
          <p:nvPr/>
        </p:nvSpPr>
        <p:spPr>
          <a:xfrm>
            <a:off x="6086475" y="313372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10A1C05-C25A-44F1-8B2B-4FB273BBCEC9}"/>
              </a:ext>
            </a:extLst>
          </p:cNvPr>
          <p:cNvSpPr>
            <a:spLocks noGrp="1"/>
          </p:cNvSpPr>
          <p:nvPr/>
        </p:nvSpPr>
        <p:spPr>
          <a:xfrm>
            <a:off x="6562725" y="313372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Como uma rede melhora a experiência de entrega?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2BC4DB0-698E-4F1F-9DB7-ADE5BB576AAF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6489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A Connecte deixa de afirmar que entende. Passa a demonstrar.</a:t>
            </a:r>
          </a:p>
        </p:txBody>
      </p:sp>
    </p:spTree>
    <p:extLst>
      <p:ext uri="{BB962C8B-B14F-4D97-AF65-F5344CB8AC3E}">
        <p14:creationId xmlns:p14="http://schemas.microsoft.com/office/powerpoint/2010/main" val="1098095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50549191-3D9C-4C64-B43B-D7B06136AB65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D5F2D92-2084-45CE-86B9-9EFE5026135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F295DA-C075-4C2E-A8B9-FF47E51E16C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Uma estrutura pequena. Uma direção clara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02EE538-8F4C-4FC3-9B8A-F94B240B2F9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857375" cy="1428750"/>
          </a:xfrm>
          <a:prstGeom prst="roundRect">
            <a:avLst>
              <a:gd name="adj" fmla="val 5333"/>
            </a:avLst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946517F-DFB6-452F-80EE-E3F9CA32076C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590BC1-47A1-4278-9D42-6FCCDE65F99D}"/>
              </a:ext>
            </a:extLst>
          </p:cNvPr>
          <p:cNvSpPr>
            <a:spLocks noGrp="1"/>
          </p:cNvSpPr>
          <p:nvPr/>
        </p:nvSpPr>
        <p:spPr>
          <a:xfrm>
            <a:off x="752475" y="24765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RODRIGO FERNANDES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A5E317-7190-4BEB-8DF5-803379333753}"/>
              </a:ext>
            </a:extLst>
          </p:cNvPr>
          <p:cNvSpPr>
            <a:spLocks noGrp="1"/>
          </p:cNvSpPr>
          <p:nvPr/>
        </p:nvSpPr>
        <p:spPr>
          <a:xfrm>
            <a:off x="752475" y="290512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C3CDC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3CDC8"/>
                </a:solidFill>
                <a:latin typeface="DejaVu Sans"/>
                <a:ea typeface="DejaVu Sans"/>
                <a:cs typeface="DejaVu Sans"/>
              </a:rPr>
              <a:t>Direção estratégica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1B1AB8-5270-41D3-B644-E0504A2B3FFA}"/>
              </a:ext>
            </a:extLst>
          </p:cNvPr>
          <p:cNvSpPr>
            <a:spLocks noGrp="1"/>
          </p:cNvSpPr>
          <p:nvPr/>
        </p:nvSpPr>
        <p:spPr>
          <a:xfrm>
            <a:off x="2466975" y="2647950"/>
            <a:ext cx="2857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0E70D36-4B29-437B-BDBA-E01C2CB53DCC}"/>
              </a:ext>
            </a:extLst>
          </p:cNvPr>
          <p:cNvSpPr>
            <a:spLocks noGrp="1"/>
          </p:cNvSpPr>
          <p:nvPr/>
        </p:nvSpPr>
        <p:spPr>
          <a:xfrm>
            <a:off x="2752725" y="1952625"/>
            <a:ext cx="1857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49BCF10-379B-452F-8664-D5E3C06FA59D}"/>
              </a:ext>
            </a:extLst>
          </p:cNvPr>
          <p:cNvSpPr>
            <a:spLocks noGrp="1"/>
          </p:cNvSpPr>
          <p:nvPr/>
        </p:nvSpPr>
        <p:spPr>
          <a:xfrm>
            <a:off x="2924175" y="2095500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2852CFB-6DEC-495E-AF7C-990D9E7C1B36}"/>
              </a:ext>
            </a:extLst>
          </p:cNvPr>
          <p:cNvSpPr>
            <a:spLocks noGrp="1"/>
          </p:cNvSpPr>
          <p:nvPr/>
        </p:nvSpPr>
        <p:spPr>
          <a:xfrm>
            <a:off x="2895600" y="24765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MARINALDO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5B2821-86A3-466B-B733-6AA470C6A939}"/>
              </a:ext>
            </a:extLst>
          </p:cNvPr>
          <p:cNvSpPr>
            <a:spLocks noGrp="1"/>
          </p:cNvSpPr>
          <p:nvPr/>
        </p:nvSpPr>
        <p:spPr>
          <a:xfrm>
            <a:off x="2895600" y="290512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Fundador + porta-voz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46C092-7160-46B0-B5FC-BD7970DAD55D}"/>
              </a:ext>
            </a:extLst>
          </p:cNvPr>
          <p:cNvSpPr>
            <a:spLocks noGrp="1"/>
          </p:cNvSpPr>
          <p:nvPr/>
        </p:nvSpPr>
        <p:spPr>
          <a:xfrm>
            <a:off x="4610100" y="2647950"/>
            <a:ext cx="2857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473C986-534F-4114-BFDA-51C21F100623}"/>
              </a:ext>
            </a:extLst>
          </p:cNvPr>
          <p:cNvSpPr>
            <a:spLocks noGrp="1"/>
          </p:cNvSpPr>
          <p:nvPr/>
        </p:nvSpPr>
        <p:spPr>
          <a:xfrm>
            <a:off x="4895850" y="1952625"/>
            <a:ext cx="1857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1957622-0D95-4792-BCD3-7E19D4B8CDB6}"/>
              </a:ext>
            </a:extLst>
          </p:cNvPr>
          <p:cNvSpPr>
            <a:spLocks noGrp="1"/>
          </p:cNvSpPr>
          <p:nvPr/>
        </p:nvSpPr>
        <p:spPr>
          <a:xfrm>
            <a:off x="5067300" y="2095500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061233A-80AB-41A8-9AA4-58CA637ABDAF}"/>
              </a:ext>
            </a:extLst>
          </p:cNvPr>
          <p:cNvSpPr>
            <a:spLocks noGrp="1"/>
          </p:cNvSpPr>
          <p:nvPr/>
        </p:nvSpPr>
        <p:spPr>
          <a:xfrm>
            <a:off x="5038725" y="24765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STORYMAKER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09A2C4A-7E4B-49A2-946E-3C6D18BE08B0}"/>
              </a:ext>
            </a:extLst>
          </p:cNvPr>
          <p:cNvSpPr>
            <a:spLocks noGrp="1"/>
          </p:cNvSpPr>
          <p:nvPr/>
        </p:nvSpPr>
        <p:spPr>
          <a:xfrm>
            <a:off x="5038725" y="290512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Captação recorrente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BFC14C4-F6CC-435B-96C2-33A560815A7F}"/>
              </a:ext>
            </a:extLst>
          </p:cNvPr>
          <p:cNvSpPr>
            <a:spLocks noGrp="1"/>
          </p:cNvSpPr>
          <p:nvPr/>
        </p:nvSpPr>
        <p:spPr>
          <a:xfrm>
            <a:off x="6753225" y="2647950"/>
            <a:ext cx="2857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CC2F581-A80A-4780-82D4-C00C8A105855}"/>
              </a:ext>
            </a:extLst>
          </p:cNvPr>
          <p:cNvSpPr>
            <a:spLocks noGrp="1"/>
          </p:cNvSpPr>
          <p:nvPr/>
        </p:nvSpPr>
        <p:spPr>
          <a:xfrm>
            <a:off x="7038975" y="1952625"/>
            <a:ext cx="1857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D9D3422-5F00-4F9F-A7BC-01C0A6DF845D}"/>
              </a:ext>
            </a:extLst>
          </p:cNvPr>
          <p:cNvSpPr>
            <a:spLocks noGrp="1"/>
          </p:cNvSpPr>
          <p:nvPr/>
        </p:nvSpPr>
        <p:spPr>
          <a:xfrm>
            <a:off x="7210425" y="2095500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56E3E37-D038-4E03-8734-5E6084ACD2EF}"/>
              </a:ext>
            </a:extLst>
          </p:cNvPr>
          <p:cNvSpPr>
            <a:spLocks noGrp="1"/>
          </p:cNvSpPr>
          <p:nvPr/>
        </p:nvSpPr>
        <p:spPr>
          <a:xfrm>
            <a:off x="7181850" y="24765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EDIÇÃO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363760E-F6A4-436A-98ED-B0FE572F0728}"/>
              </a:ext>
            </a:extLst>
          </p:cNvPr>
          <p:cNvSpPr>
            <a:spLocks noGrp="1"/>
          </p:cNvSpPr>
          <p:nvPr/>
        </p:nvSpPr>
        <p:spPr>
          <a:xfrm>
            <a:off x="7181850" y="290512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Produção dos ativos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15C14E3-483E-4192-9AED-2B3640FA505E}"/>
              </a:ext>
            </a:extLst>
          </p:cNvPr>
          <p:cNvSpPr>
            <a:spLocks noGrp="1"/>
          </p:cNvSpPr>
          <p:nvPr/>
        </p:nvSpPr>
        <p:spPr>
          <a:xfrm>
            <a:off x="8896350" y="2647950"/>
            <a:ext cx="285750" cy="2857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2645550-C6D3-4B1E-8385-C64D6E9A4BCC}"/>
              </a:ext>
            </a:extLst>
          </p:cNvPr>
          <p:cNvSpPr>
            <a:spLocks noGrp="1"/>
          </p:cNvSpPr>
          <p:nvPr/>
        </p:nvSpPr>
        <p:spPr>
          <a:xfrm>
            <a:off x="9182100" y="1952625"/>
            <a:ext cx="1857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24DD33-895E-4D1F-A492-AE0E72C03EC7}"/>
              </a:ext>
            </a:extLst>
          </p:cNvPr>
          <p:cNvSpPr>
            <a:spLocks noGrp="1"/>
          </p:cNvSpPr>
          <p:nvPr/>
        </p:nvSpPr>
        <p:spPr>
          <a:xfrm>
            <a:off x="9353550" y="2095500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FBCD578-762E-4BBD-94CD-F9339615D9CF}"/>
              </a:ext>
            </a:extLst>
          </p:cNvPr>
          <p:cNvSpPr>
            <a:spLocks noGrp="1"/>
          </p:cNvSpPr>
          <p:nvPr/>
        </p:nvSpPr>
        <p:spPr>
          <a:xfrm>
            <a:off x="9324975" y="24765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CANAIS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0AF86AE-E160-419A-91CF-BD9C3C6A9E47}"/>
              </a:ext>
            </a:extLst>
          </p:cNvPr>
          <p:cNvSpPr>
            <a:spLocks noGrp="1"/>
          </p:cNvSpPr>
          <p:nvPr/>
        </p:nvSpPr>
        <p:spPr>
          <a:xfrm>
            <a:off x="9324975" y="290512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Distribuição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36ACB2F-C760-4457-B759-676DBE249B22}"/>
              </a:ext>
            </a:extLst>
          </p:cNvPr>
          <p:cNvSpPr>
            <a:spLocks noGrp="1"/>
          </p:cNvSpPr>
          <p:nvPr/>
        </p:nvSpPr>
        <p:spPr>
          <a:xfrm>
            <a:off x="1381125" y="4429125"/>
            <a:ext cx="9429750" cy="9048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primeiro ciclo constrói uma comunicação que funciona.</a:t>
            </a:r>
          </a:p>
          <a:p>
            <a:pPr algn="ctr">
              <a:def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Sem inflar a estrutura antes da hora.</a:t>
            </a:r>
          </a:p>
        </p:txBody>
      </p:sp>
    </p:spTree>
    <p:extLst>
      <p:ext uri="{BB962C8B-B14F-4D97-AF65-F5344CB8AC3E}">
        <p14:creationId xmlns:p14="http://schemas.microsoft.com/office/powerpoint/2010/main" val="1537371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F698FDD5-464F-4DFB-93D5-035767387C02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781CA9-D90A-42EE-821E-5303FFBB47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506E4C7-9F2A-4D4E-832B-ADFC692C324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site acompanha a nova percepção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C9F5EE-2380-44B2-A0B8-A30E52906740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6429375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site é uma pendência operacional importante.</a:t>
            </a:r>
          </a:p>
          <a:p>
            <a:pPr algn="l">
              <a:def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Ele precisa refletir o novo posicionamento.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0D1A2CD-186F-4518-8A6A-914025710A2D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19858B5-FEAE-467D-861C-DDB5F286556E}"/>
              </a:ext>
            </a:extLst>
          </p:cNvPr>
          <p:cNvSpPr>
            <a:spLocks noGrp="1"/>
          </p:cNvSpPr>
          <p:nvPr/>
        </p:nvSpPr>
        <p:spPr>
          <a:xfrm>
            <a:off x="828675" y="2857500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Proposta de valor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748B5FF-5C42-4331-8962-27204D0D4D9A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D1B46B-44AC-4161-B1C8-A2B5F3D216E9}"/>
              </a:ext>
            </a:extLst>
          </p:cNvPr>
          <p:cNvSpPr>
            <a:spLocks noGrp="1"/>
          </p:cNvSpPr>
          <p:nvPr/>
        </p:nvSpPr>
        <p:spPr>
          <a:xfrm>
            <a:off x="828675" y="3228975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Soluções e segmentos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9D04791-CD80-4B0C-A9BD-9718027394F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04C319-ECBA-4BDC-94CA-3D9921340A15}"/>
              </a:ext>
            </a:extLst>
          </p:cNvPr>
          <p:cNvSpPr>
            <a:spLocks noGrp="1"/>
          </p:cNvSpPr>
          <p:nvPr/>
        </p:nvSpPr>
        <p:spPr>
          <a:xfrm>
            <a:off x="828675" y="3600450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Cobertura e diferenciais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CED85B9-AF0A-4F37-A7A8-A281FD7A8EB3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325A3F1-212D-46F1-AF32-5EA524BE5711}"/>
              </a:ext>
            </a:extLst>
          </p:cNvPr>
          <p:cNvSpPr>
            <a:spLocks noGrp="1"/>
          </p:cNvSpPr>
          <p:nvPr/>
        </p:nvSpPr>
        <p:spPr>
          <a:xfrm>
            <a:off x="828675" y="3971925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Cases e provas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DB14BD7-D8B5-4B1E-B008-8F2CF349FE01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CC786A8-D228-40A7-B013-C0671962FFF0}"/>
              </a:ext>
            </a:extLst>
          </p:cNvPr>
          <p:cNvSpPr>
            <a:spLocks noGrp="1"/>
          </p:cNvSpPr>
          <p:nvPr/>
        </p:nvSpPr>
        <p:spPr>
          <a:xfrm>
            <a:off x="828675" y="4343400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CTAs e contato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378BABC-9E66-49E6-AFA6-8E99B3F88EA9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9C028E6-6076-4E14-9B98-2FE566BFB1EC}"/>
              </a:ext>
            </a:extLst>
          </p:cNvPr>
          <p:cNvSpPr>
            <a:spLocks noGrp="1"/>
          </p:cNvSpPr>
          <p:nvPr/>
        </p:nvSpPr>
        <p:spPr>
          <a:xfrm>
            <a:off x="828675" y="4714875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Captação de oportunidades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B0E3C7D-7BCF-4C82-B3F4-9AB31B8C2CA6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584D88-04F0-466E-9F3E-F9F5ABEC76D2}"/>
              </a:ext>
            </a:extLst>
          </p:cNvPr>
          <p:cNvSpPr>
            <a:spLocks noGrp="1"/>
          </p:cNvSpPr>
          <p:nvPr/>
        </p:nvSpPr>
        <p:spPr>
          <a:xfrm>
            <a:off x="828675" y="5086350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Responsividade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EF1EBE2-EA9A-4232-B48F-0B1BD8432DBD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54369E-924C-404C-A812-CA5A1716614A}"/>
              </a:ext>
            </a:extLst>
          </p:cNvPr>
          <p:cNvSpPr>
            <a:spLocks noGrp="1"/>
          </p:cNvSpPr>
          <p:nvPr/>
        </p:nvSpPr>
        <p:spPr>
          <a:xfrm>
            <a:off x="828675" y="5457825"/>
            <a:ext cx="54959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Preparação para campanhas futuras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9895215-69BF-4933-A996-E36270DA52EA}"/>
              </a:ext>
            </a:extLst>
          </p:cNvPr>
          <p:cNvSpPr>
            <a:spLocks noGrp="1"/>
          </p:cNvSpPr>
          <p:nvPr/>
        </p:nvSpPr>
        <p:spPr>
          <a:xfrm>
            <a:off x="7715250" y="1762125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FF4C26A-1F9C-4C3C-A914-DD3FAC56EB98}"/>
              </a:ext>
            </a:extLst>
          </p:cNvPr>
          <p:cNvSpPr>
            <a:spLocks noGrp="1"/>
          </p:cNvSpPr>
          <p:nvPr/>
        </p:nvSpPr>
        <p:spPr>
          <a:xfrm>
            <a:off x="7905750" y="18573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ESTRATÉGIA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9C4FE57-2B14-4D04-88D6-73CE5FF1B770}"/>
              </a:ext>
            </a:extLst>
          </p:cNvPr>
          <p:cNvSpPr>
            <a:spLocks noGrp="1"/>
          </p:cNvSpPr>
          <p:nvPr/>
        </p:nvSpPr>
        <p:spPr>
          <a:xfrm>
            <a:off x="9315450" y="2314575"/>
            <a:ext cx="38100" cy="35242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4E3ED5A-DE66-4751-96A5-37680BED4B8E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038246B-760E-4142-9B37-8D7690167D21}"/>
              </a:ext>
            </a:extLst>
          </p:cNvPr>
          <p:cNvSpPr>
            <a:spLocks noGrp="1"/>
          </p:cNvSpPr>
          <p:nvPr/>
        </p:nvSpPr>
        <p:spPr>
          <a:xfrm>
            <a:off x="7905750" y="27622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DIRECIONAMENTO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5183F22-1C10-46CD-B316-0F6847782C27}"/>
              </a:ext>
            </a:extLst>
          </p:cNvPr>
          <p:cNvSpPr>
            <a:spLocks noGrp="1"/>
          </p:cNvSpPr>
          <p:nvPr/>
        </p:nvSpPr>
        <p:spPr>
          <a:xfrm>
            <a:off x="9315450" y="3219450"/>
            <a:ext cx="38100" cy="35242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AA0611C-1DCF-4C74-888C-490C524BB7AC}"/>
              </a:ext>
            </a:extLst>
          </p:cNvPr>
          <p:cNvSpPr>
            <a:spLocks noGrp="1"/>
          </p:cNvSpPr>
          <p:nvPr/>
        </p:nvSpPr>
        <p:spPr>
          <a:xfrm>
            <a:off x="7715250" y="3571875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8F8B5AA-823C-4F6B-B975-DABA2A922402}"/>
              </a:ext>
            </a:extLst>
          </p:cNvPr>
          <p:cNvSpPr>
            <a:spLocks noGrp="1"/>
          </p:cNvSpPr>
          <p:nvPr/>
        </p:nvSpPr>
        <p:spPr>
          <a:xfrm>
            <a:off x="7905750" y="36671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ESPECIALISTA WEB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08264E6-BB1D-4025-AE81-55479046A494}"/>
              </a:ext>
            </a:extLst>
          </p:cNvPr>
          <p:cNvSpPr>
            <a:spLocks noGrp="1"/>
          </p:cNvSpPr>
          <p:nvPr/>
        </p:nvSpPr>
        <p:spPr>
          <a:xfrm>
            <a:off x="9315450" y="4124325"/>
            <a:ext cx="38100" cy="352425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0AF08C3-96C7-4E19-B486-6E2FDF74E828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E2EB91F-07C2-4F83-A37C-21017CFB757E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NOVO SITE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A0627B6-BF44-44F9-B19C-151478342C22}"/>
              </a:ext>
            </a:extLst>
          </p:cNvPr>
          <p:cNvSpPr>
            <a:spLocks noGrp="1"/>
          </p:cNvSpPr>
          <p:nvPr/>
        </p:nvSpPr>
        <p:spPr>
          <a:xfrm>
            <a:off x="7048500" y="57150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Execução técnica por especialista. Direção estratégica dentro do projeto.</a:t>
            </a:r>
          </a:p>
        </p:txBody>
      </p:sp>
    </p:spTree>
    <p:extLst>
      <p:ext uri="{BB962C8B-B14F-4D97-AF65-F5344CB8AC3E}">
        <p14:creationId xmlns:p14="http://schemas.microsoft.com/office/powerpoint/2010/main" val="174146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5284383B-5247-49FC-A7A7-C206D3CB48C2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12F45C5-50B9-46D4-9952-F57AE843F75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FB07ABF-9244-4529-974E-FC8166E5AFE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primeiro ciclo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EEBEC0-21F6-46B9-87F9-D9C394D08724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3000375" cy="1190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4C0BB9-E923-4266-9079-FC41CE082EA3}"/>
              </a:ext>
            </a:extLst>
          </p:cNvPr>
          <p:cNvSpPr>
            <a:spLocks noGrp="1"/>
          </p:cNvSpPr>
          <p:nvPr/>
        </p:nvSpPr>
        <p:spPr>
          <a:xfrm>
            <a:off x="3286125" y="1809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4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DIAS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D06098-F62B-4CDB-9A10-3785A5CAB4E7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C89AE1-C4A3-48F6-A771-1455376ABA6A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EXTRAIR + ORGANIZAR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D06CD7-F434-4BE9-A209-39BCDADD61BB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DIAS 01–30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311EE63-D1D5-499F-934F-0B65707A5FDD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Diagnóstico e download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201C149-C9C0-4408-976C-8C8CAF474BEC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Públicos e posicionamento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CC46396-1F17-421B-B76C-DBFDEA2C08A3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Narrativa e pilares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907B41-31EF-4365-A5B0-C64217CA82FF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Plano e site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6647CE9-F102-4502-AE54-B00001C53685}"/>
              </a:ext>
            </a:extLst>
          </p:cNvPr>
          <p:cNvSpPr>
            <a:spLocks noGrp="1"/>
          </p:cNvSpPr>
          <p:nvPr/>
        </p:nvSpPr>
        <p:spPr>
          <a:xfrm>
            <a:off x="4038600" y="3286125"/>
            <a:ext cx="19050" cy="2381250"/>
          </a:xfrm>
          <a:prstGeom prst="rect">
            <a:avLst/>
          </a:prstGeom>
          <a:solidFill>
            <a:srgbClr val="304039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328FE7B-F79A-4EFD-9648-ED053C3D0FDC}"/>
              </a:ext>
            </a:extLst>
          </p:cNvPr>
          <p:cNvSpPr>
            <a:spLocks noGrp="1"/>
          </p:cNvSpPr>
          <p:nvPr/>
        </p:nvSpPr>
        <p:spPr>
          <a:xfrm>
            <a:off x="4371975" y="3190875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216F02D-B810-4F4E-87C6-251C8C2F8108}"/>
              </a:ext>
            </a:extLst>
          </p:cNvPr>
          <p:cNvSpPr>
            <a:spLocks noGrp="1"/>
          </p:cNvSpPr>
          <p:nvPr/>
        </p:nvSpPr>
        <p:spPr>
          <a:xfrm>
            <a:off x="4371975" y="36385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COMUNICAR + PRODUZIR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DCCCB1-3978-4EDF-97BD-EE72C51DFCC4}"/>
              </a:ext>
            </a:extLst>
          </p:cNvPr>
          <p:cNvSpPr>
            <a:spLocks noGrp="1"/>
          </p:cNvSpPr>
          <p:nvPr/>
        </p:nvSpPr>
        <p:spPr>
          <a:xfrm>
            <a:off x="4371975" y="404812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DIAS 31–60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3185B4C-C94F-4C26-B9A6-EB710CCBEF36}"/>
              </a:ext>
            </a:extLst>
          </p:cNvPr>
          <p:cNvSpPr>
            <a:spLocks noGrp="1"/>
          </p:cNvSpPr>
          <p:nvPr/>
        </p:nvSpPr>
        <p:spPr>
          <a:xfrm>
            <a:off x="4371975" y="44767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Desenvolvimento de Marinaldo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E662022-47D7-4B49-8A8F-17C4465B9F1F}"/>
              </a:ext>
            </a:extLst>
          </p:cNvPr>
          <p:cNvSpPr>
            <a:spLocks noGrp="1"/>
          </p:cNvSpPr>
          <p:nvPr/>
        </p:nvSpPr>
        <p:spPr>
          <a:xfrm>
            <a:off x="4371975" y="48196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Treinamento de comunicação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C7386EE-1074-4AC6-8308-C49B442B9330}"/>
              </a:ext>
            </a:extLst>
          </p:cNvPr>
          <p:cNvSpPr>
            <a:spLocks noGrp="1"/>
          </p:cNvSpPr>
          <p:nvPr/>
        </p:nvSpPr>
        <p:spPr>
          <a:xfrm>
            <a:off x="4371975" y="51625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Captação e produção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F0179D4-8DFE-42D6-975B-81EF7C07A836}"/>
              </a:ext>
            </a:extLst>
          </p:cNvPr>
          <p:cNvSpPr>
            <a:spLocks noGrp="1"/>
          </p:cNvSpPr>
          <p:nvPr/>
        </p:nvSpPr>
        <p:spPr>
          <a:xfrm>
            <a:off x="4371975" y="55054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Nova presença digital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B905494-0D98-4CC5-8091-40B1D075867A}"/>
              </a:ext>
            </a:extLst>
          </p:cNvPr>
          <p:cNvSpPr>
            <a:spLocks noGrp="1"/>
          </p:cNvSpPr>
          <p:nvPr/>
        </p:nvSpPr>
        <p:spPr>
          <a:xfrm>
            <a:off x="7800975" y="3286125"/>
            <a:ext cx="19050" cy="2381250"/>
          </a:xfrm>
          <a:prstGeom prst="rect">
            <a:avLst/>
          </a:prstGeom>
          <a:solidFill>
            <a:srgbClr val="304039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E4C6941-A7C8-4664-BC2E-D7D8397306C0}"/>
              </a:ext>
            </a:extLst>
          </p:cNvPr>
          <p:cNvSpPr>
            <a:spLocks noGrp="1"/>
          </p:cNvSpPr>
          <p:nvPr/>
        </p:nvSpPr>
        <p:spPr>
          <a:xfrm>
            <a:off x="8134350" y="3190875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16D137E-F1F9-438E-9AA2-BE3E5BFE4B5C}"/>
              </a:ext>
            </a:extLst>
          </p:cNvPr>
          <p:cNvSpPr>
            <a:spLocks noGrp="1"/>
          </p:cNvSpPr>
          <p:nvPr/>
        </p:nvSpPr>
        <p:spPr>
          <a:xfrm>
            <a:off x="8134350" y="36385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CONSOLIDAR + OTIMIZAR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B9B83FA-0DCE-4986-8388-A42D66823554}"/>
              </a:ext>
            </a:extLst>
          </p:cNvPr>
          <p:cNvSpPr>
            <a:spLocks noGrp="1"/>
          </p:cNvSpPr>
          <p:nvPr/>
        </p:nvSpPr>
        <p:spPr>
          <a:xfrm>
            <a:off x="8134350" y="404812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DIAS 61–90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E18CD57-7D92-4C1B-A1EA-D501452F851A}"/>
              </a:ext>
            </a:extLst>
          </p:cNvPr>
          <p:cNvSpPr>
            <a:spLocks noGrp="1"/>
          </p:cNvSpPr>
          <p:nvPr/>
        </p:nvSpPr>
        <p:spPr>
          <a:xfrm>
            <a:off x="8134350" y="44767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Novas captações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EF5D825-8334-4D70-A48E-8C15325E3D3C}"/>
              </a:ext>
            </a:extLst>
          </p:cNvPr>
          <p:cNvSpPr>
            <a:spLocks noGrp="1"/>
          </p:cNvSpPr>
          <p:nvPr/>
        </p:nvSpPr>
        <p:spPr>
          <a:xfrm>
            <a:off x="8134350" y="48196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Análise e correções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77D8BA6-7D75-4BF6-BE7C-4244D0322545}"/>
              </a:ext>
            </a:extLst>
          </p:cNvPr>
          <p:cNvSpPr>
            <a:spLocks noGrp="1"/>
          </p:cNvSpPr>
          <p:nvPr/>
        </p:nvSpPr>
        <p:spPr>
          <a:xfrm>
            <a:off x="8134350" y="51625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Rotina de conteúdo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94B6D6D-3288-4ED7-B60E-0D1DFBF0EFC2}"/>
              </a:ext>
            </a:extLst>
          </p:cNvPr>
          <p:cNvSpPr>
            <a:spLocks noGrp="1"/>
          </p:cNvSpPr>
          <p:nvPr/>
        </p:nvSpPr>
        <p:spPr>
          <a:xfrm>
            <a:off x="8134350" y="55054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8D2CD"/>
                </a:solidFill>
                <a:latin typeface="DejaVu Sans"/>
                <a:ea typeface="DejaVu Sans"/>
                <a:cs typeface="DejaVu Sans"/>
              </a:rPr>
              <a:t>Plano do próximo ciclo</a:t>
            </a:r>
          </a:p>
        </p:txBody>
      </p:sp>
    </p:spTree>
    <p:extLst>
      <p:ext uri="{BB962C8B-B14F-4D97-AF65-F5344CB8AC3E}">
        <p14:creationId xmlns:p14="http://schemas.microsoft.com/office/powerpoint/2010/main" val="382898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3E9FDB5B-4F85-4230-AD55-D840D8A4521B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5E31FF-EADB-4777-B648-EB8810233A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5EBEFD0-7798-4FF9-818A-052605797FE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Uma entrega completa em 90 dias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F653A2C-990A-4949-9AC3-43C1BFF6663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EECE0E-D499-4B6C-81E3-9957938D8B40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488676-75BD-47C4-B5B8-358E49274184}"/>
              </a:ext>
            </a:extLst>
          </p:cNvPr>
          <p:cNvSpPr>
            <a:spLocks noGrp="1"/>
          </p:cNvSpPr>
          <p:nvPr/>
        </p:nvSpPr>
        <p:spPr>
          <a:xfrm>
            <a:off x="1800225" y="180975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PRESENÇAS NA EMPRESA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DC2D57-120E-4238-AA55-0CA81A67E8CE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6BC655-5D98-481B-BF2C-6A95648ABDF7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D0D9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0D9D5"/>
                </a:solidFill>
                <a:latin typeface="DejaVu Sans"/>
                <a:ea typeface="DejaVu Sans"/>
                <a:cs typeface="DejaVu Sans"/>
              </a:rPr>
              <a:t>1 imersão estratégica</a:t>
            </a:r>
          </a:p>
          <a:p>
            <a:pPr algn="l">
              <a:defRPr sz="1125" b="0">
                <a:solidFill>
                  <a:srgbClr val="D0D9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0D9D5"/>
                </a:solidFill>
                <a:latin typeface="DejaVu Sans"/>
                <a:ea typeface="DejaVu Sans"/>
                <a:cs typeface="DejaVu Sans"/>
              </a:rPr>
              <a:t>+ 3 dias de captação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07E7904-03EA-4120-89F0-A4A84D8B9A66}"/>
              </a:ext>
            </a:extLst>
          </p:cNvPr>
          <p:cNvSpPr>
            <a:spLocks noGrp="1"/>
          </p:cNvSpPr>
          <p:nvPr/>
        </p:nvSpPr>
        <p:spPr>
          <a:xfrm>
            <a:off x="4324350" y="160020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FC226BB-EC53-441C-BF76-C65E589DE6CD}"/>
              </a:ext>
            </a:extLst>
          </p:cNvPr>
          <p:cNvSpPr>
            <a:spLocks noGrp="1"/>
          </p:cNvSpPr>
          <p:nvPr/>
        </p:nvSpPr>
        <p:spPr>
          <a:xfrm>
            <a:off x="4552950" y="173355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400394D-430C-46AF-88B1-89FD906FC173}"/>
              </a:ext>
            </a:extLst>
          </p:cNvPr>
          <p:cNvSpPr>
            <a:spLocks noGrp="1"/>
          </p:cNvSpPr>
          <p:nvPr/>
        </p:nvSpPr>
        <p:spPr>
          <a:xfrm>
            <a:off x="5514975" y="180975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REUNIÕES ONLINE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A9661AF-DB0C-4E92-BC29-C60EE08CD74F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B6B57B-5B8A-45EC-8215-A4F7552397DF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Encontros quinzenais</a:t>
            </a:r>
          </a:p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de direção e acompanhamento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8576A60-0229-4F29-9986-6E49E6F0C752}"/>
              </a:ext>
            </a:extLst>
          </p:cNvPr>
          <p:cNvSpPr>
            <a:spLocks noGrp="1"/>
          </p:cNvSpPr>
          <p:nvPr/>
        </p:nvSpPr>
        <p:spPr>
          <a:xfrm>
            <a:off x="8039100" y="160020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E3F50E-53B0-4A77-AB11-0FF2AECD589A}"/>
              </a:ext>
            </a:extLst>
          </p:cNvPr>
          <p:cNvSpPr>
            <a:spLocks noGrp="1"/>
          </p:cNvSpPr>
          <p:nvPr/>
        </p:nvSpPr>
        <p:spPr>
          <a:xfrm>
            <a:off x="8267700" y="173355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DEEE9AE-1CF6-41B0-AA4C-B63314EB3472}"/>
              </a:ext>
            </a:extLst>
          </p:cNvPr>
          <p:cNvSpPr>
            <a:spLocks noGrp="1"/>
          </p:cNvSpPr>
          <p:nvPr/>
        </p:nvSpPr>
        <p:spPr>
          <a:xfrm>
            <a:off x="9229725" y="180975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DIAS DE CAPTAÇÃO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E8CD935-9D1F-4769-B245-B5D4B322A8A8}"/>
              </a:ext>
            </a:extLst>
          </p:cNvPr>
          <p:cNvSpPr>
            <a:spLocks noGrp="1"/>
          </p:cNvSpPr>
          <p:nvPr/>
        </p:nvSpPr>
        <p:spPr>
          <a:xfrm>
            <a:off x="8267700" y="240030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3122AA4-A750-4F53-A78B-F1AC40F1AAF7}"/>
              </a:ext>
            </a:extLst>
          </p:cNvPr>
          <p:cNvSpPr>
            <a:spLocks noGrp="1"/>
          </p:cNvSpPr>
          <p:nvPr/>
        </p:nvSpPr>
        <p:spPr>
          <a:xfrm>
            <a:off x="8267700" y="25336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Uma diária programada</a:t>
            </a:r>
          </a:p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por mês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D0CBB6A-0C37-4915-A9F2-BCCE6E87B06D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0D11C56-2882-4492-B8D5-542CC35DFEF3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B4408B3-6C78-4939-ACC3-944A26A182BA}"/>
              </a:ext>
            </a:extLst>
          </p:cNvPr>
          <p:cNvSpPr>
            <a:spLocks noGrp="1"/>
          </p:cNvSpPr>
          <p:nvPr/>
        </p:nvSpPr>
        <p:spPr>
          <a:xfrm>
            <a:off x="1800225" y="361950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VÍDEOS EDITADOS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639D19-2C42-42CA-BC09-330C707FCA1C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208189A-23CA-40DB-A9CE-550C45947EDA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Até 8 conteúdos</a:t>
            </a:r>
          </a:p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por ciclo de captação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946F701-2913-4119-8CFA-4BD110C7B84D}"/>
              </a:ext>
            </a:extLst>
          </p:cNvPr>
          <p:cNvSpPr>
            <a:spLocks noGrp="1"/>
          </p:cNvSpPr>
          <p:nvPr/>
        </p:nvSpPr>
        <p:spPr>
          <a:xfrm>
            <a:off x="4324350" y="340995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6A323F7-2E82-4C96-BA25-45956905BC25}"/>
              </a:ext>
            </a:extLst>
          </p:cNvPr>
          <p:cNvSpPr>
            <a:spLocks noGrp="1"/>
          </p:cNvSpPr>
          <p:nvPr/>
        </p:nvSpPr>
        <p:spPr>
          <a:xfrm>
            <a:off x="4552950" y="354330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EE09088-F5FF-4B83-AA40-8C49F934791C}"/>
              </a:ext>
            </a:extLst>
          </p:cNvPr>
          <p:cNvSpPr>
            <a:spLocks noGrp="1"/>
          </p:cNvSpPr>
          <p:nvPr/>
        </p:nvSpPr>
        <p:spPr>
          <a:xfrm>
            <a:off x="5514975" y="361950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LABORATÓRIOS COM MARINALDO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B4C08BB-E8D5-4B59-939B-38ABC4C5F142}"/>
              </a:ext>
            </a:extLst>
          </p:cNvPr>
          <p:cNvSpPr>
            <a:spLocks noGrp="1"/>
          </p:cNvSpPr>
          <p:nvPr/>
        </p:nvSpPr>
        <p:spPr>
          <a:xfrm>
            <a:off x="4552950" y="421005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2D8A7A9-E48B-42BD-8A99-20BB462D2F82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Câmera, presença, clareza,</a:t>
            </a:r>
          </a:p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storytelling e pitch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ABCB64C-36AF-409D-9E42-73298AD9D7EB}"/>
              </a:ext>
            </a:extLst>
          </p:cNvPr>
          <p:cNvSpPr>
            <a:spLocks noGrp="1"/>
          </p:cNvSpPr>
          <p:nvPr/>
        </p:nvSpPr>
        <p:spPr>
          <a:xfrm>
            <a:off x="8039100" y="3409950"/>
            <a:ext cx="3333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69F5838-354D-40D5-9D61-82D742B5F391}"/>
              </a:ext>
            </a:extLst>
          </p:cNvPr>
          <p:cNvSpPr>
            <a:spLocks noGrp="1"/>
          </p:cNvSpPr>
          <p:nvPr/>
        </p:nvSpPr>
        <p:spPr>
          <a:xfrm>
            <a:off x="8267700" y="3543300"/>
            <a:ext cx="9525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E2B3AE9-45A9-4FD2-BA6B-0B9AA9614C1E}"/>
              </a:ext>
            </a:extLst>
          </p:cNvPr>
          <p:cNvSpPr>
            <a:spLocks noGrp="1"/>
          </p:cNvSpPr>
          <p:nvPr/>
        </p:nvSpPr>
        <p:spPr>
          <a:xfrm>
            <a:off x="9229725" y="3619500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NOVO SITE INSTITUCIONAL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BDA6969-CA92-4E14-91BF-D478B2AAB1EC}"/>
              </a:ext>
            </a:extLst>
          </p:cNvPr>
          <p:cNvSpPr>
            <a:spLocks noGrp="1"/>
          </p:cNvSpPr>
          <p:nvPr/>
        </p:nvSpPr>
        <p:spPr>
          <a:xfrm>
            <a:off x="8267700" y="4210050"/>
            <a:ext cx="619125" cy="38100"/>
          </a:xfrm>
          <a:prstGeom prst="rect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DB34F5A-8129-4AE8-A22C-FE08038C8B22}"/>
              </a:ext>
            </a:extLst>
          </p:cNvPr>
          <p:cNvSpPr>
            <a:spLocks noGrp="1"/>
          </p:cNvSpPr>
          <p:nvPr/>
        </p:nvSpPr>
        <p:spPr>
          <a:xfrm>
            <a:off x="8267700" y="43434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Estratégia, direcionamento</a:t>
            </a:r>
          </a:p>
          <a:p>
            <a:pPr algn="l">
              <a:def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 execução técnica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2FB8E0A-2F3F-43B0-99F8-88D64A9A5225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744200" cy="533400"/>
          </a:xfrm>
          <a:prstGeom prst="rect">
            <a:avLst/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0CBF65E-99C3-4DA6-92FD-F2082C7D46D6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334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INCLUI: DIAGNÓSTICO, POSICIONAMENTO, NARRATIVA, PLANO DE COMUNICAÇÃO E BANCO DE CONTEÚDO.</a:t>
            </a:r>
          </a:p>
        </p:txBody>
      </p:sp>
    </p:spTree>
    <p:extLst>
      <p:ext uri="{BB962C8B-B14F-4D97-AF65-F5344CB8AC3E}">
        <p14:creationId xmlns:p14="http://schemas.microsoft.com/office/powerpoint/2010/main" val="2080603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90B9AB2C-3C4F-4293-B9AC-4721869684A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2A1A7D2-B080-4C5B-BCC7-6A7CE139FEA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A0ADDE4-9A54-4341-813C-5E96E6EE59A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O escopo deste primeiro ciclo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3F7B97-A33F-4C4E-BA11-26677CD0FCE9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NÃO ASSUME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A5C402-D9A0-4D82-8EAC-A11EEA820B92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CONSTRÓI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9BF308F-A0B4-48DB-9B5A-DD8488E748DA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E569525-D541-482C-8AA1-41C054AC78B4}"/>
              </a:ext>
            </a:extLst>
          </p:cNvPr>
          <p:cNvSpPr>
            <a:spLocks noGrp="1"/>
          </p:cNvSpPr>
          <p:nvPr/>
        </p:nvSpPr>
        <p:spPr>
          <a:xfrm>
            <a:off x="82867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Gestão integral de redes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0BDA8C4-DFAD-40A8-B58D-0BAED8C83488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345886-D443-4487-A149-5550B45A6A25}"/>
              </a:ext>
            </a:extLst>
          </p:cNvPr>
          <p:cNvSpPr>
            <a:spLocks noGrp="1"/>
          </p:cNvSpPr>
          <p:nvPr/>
        </p:nvSpPr>
        <p:spPr>
          <a:xfrm>
            <a:off x="828675" y="26003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Departamento de marketing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0EE0ED4-AFC9-45D3-8CB4-CA2EE618A24A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98C9E7D-AD62-4D72-A15A-9F877DED6005}"/>
              </a:ext>
            </a:extLst>
          </p:cNvPr>
          <p:cNvSpPr>
            <a:spLocks noGrp="1"/>
          </p:cNvSpPr>
          <p:nvPr/>
        </p:nvSpPr>
        <p:spPr>
          <a:xfrm>
            <a:off x="828675" y="30575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Gestão de tráfego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D5C8E81-6B36-424E-B796-DE6759AD6904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A43537-7A75-4E68-A347-61336B265EDC}"/>
              </a:ext>
            </a:extLst>
          </p:cNvPr>
          <p:cNvSpPr>
            <a:spLocks noGrp="1"/>
          </p:cNvSpPr>
          <p:nvPr/>
        </p:nvSpPr>
        <p:spPr>
          <a:xfrm>
            <a:off x="828675" y="35147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SDR e CRM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60DBFCB-E842-49F2-9563-52AD8D027D41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79CDC49-FDA1-42B6-9921-FD08598312AA}"/>
              </a:ext>
            </a:extLst>
          </p:cNvPr>
          <p:cNvSpPr>
            <a:spLocks noGrp="1"/>
          </p:cNvSpPr>
          <p:nvPr/>
        </p:nvSpPr>
        <p:spPr>
          <a:xfrm>
            <a:off x="828675" y="39719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Operação comercial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AC892C2-3416-4C8E-A29D-4847C1973B74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988F2C6-E284-4D1C-A0E1-9B4BCB602DEE}"/>
              </a:ext>
            </a:extLst>
          </p:cNvPr>
          <p:cNvSpPr>
            <a:spLocks noGrp="1"/>
          </p:cNvSpPr>
          <p:nvPr/>
        </p:nvSpPr>
        <p:spPr>
          <a:xfrm>
            <a:off x="828675" y="4429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Equipe interna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9C259EC-0E63-439D-995E-70AFEB608085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3F5523A-C770-4ADA-8485-87D23A34D3E5}"/>
              </a:ext>
            </a:extLst>
          </p:cNvPr>
          <p:cNvSpPr>
            <a:spLocks noGrp="1"/>
          </p:cNvSpPr>
          <p:nvPr/>
        </p:nvSpPr>
        <p:spPr>
          <a:xfrm>
            <a:off x="688657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Estratégia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D399106-2860-46B8-B449-140B417614E9}"/>
              </a:ext>
            </a:extLst>
          </p:cNvPr>
          <p:cNvSpPr>
            <a:spLocks noGrp="1"/>
          </p:cNvSpPr>
          <p:nvPr/>
        </p:nvSpPr>
        <p:spPr>
          <a:xfrm>
            <a:off x="6667500" y="27622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3B40363-1513-4C9C-8390-350D4C525A7C}"/>
              </a:ext>
            </a:extLst>
          </p:cNvPr>
          <p:cNvSpPr>
            <a:spLocks noGrp="1"/>
          </p:cNvSpPr>
          <p:nvPr/>
        </p:nvSpPr>
        <p:spPr>
          <a:xfrm>
            <a:off x="6886575" y="26574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Autonomia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4D4325D-A44D-40BC-8344-BCA4D609A4C6}"/>
              </a:ext>
            </a:extLst>
          </p:cNvPr>
          <p:cNvSpPr>
            <a:spLocks noGrp="1"/>
          </p:cNvSpPr>
          <p:nvPr/>
        </p:nvSpPr>
        <p:spPr>
          <a:xfrm>
            <a:off x="6667500" y="32766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719936F-19B0-4F73-B144-6974CB2D3A7D}"/>
              </a:ext>
            </a:extLst>
          </p:cNvPr>
          <p:cNvSpPr>
            <a:spLocks noGrp="1"/>
          </p:cNvSpPr>
          <p:nvPr/>
        </p:nvSpPr>
        <p:spPr>
          <a:xfrm>
            <a:off x="6886575" y="31718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Comunicação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0DB4C60-F31D-42F7-9407-11C6F39B6BBF}"/>
              </a:ext>
            </a:extLst>
          </p:cNvPr>
          <p:cNvSpPr>
            <a:spLocks noGrp="1"/>
          </p:cNvSpPr>
          <p:nvPr/>
        </p:nvSpPr>
        <p:spPr>
          <a:xfrm>
            <a:off x="6667500" y="37909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D8DECCA-85B4-4992-B71D-13CD25D48B3C}"/>
              </a:ext>
            </a:extLst>
          </p:cNvPr>
          <p:cNvSpPr>
            <a:spLocks noGrp="1"/>
          </p:cNvSpPr>
          <p:nvPr/>
        </p:nvSpPr>
        <p:spPr>
          <a:xfrm>
            <a:off x="6886575" y="36861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Posicionamento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4422105-F524-4BA8-A4E5-559465143ECC}"/>
              </a:ext>
            </a:extLst>
          </p:cNvPr>
          <p:cNvSpPr>
            <a:spLocks noGrp="1"/>
          </p:cNvSpPr>
          <p:nvPr/>
        </p:nvSpPr>
        <p:spPr>
          <a:xfrm>
            <a:off x="6667500" y="43053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5637CD3-35B3-43C7-B041-1CB1026F4F30}"/>
              </a:ext>
            </a:extLst>
          </p:cNvPr>
          <p:cNvSpPr>
            <a:spLocks noGrp="1"/>
          </p:cNvSpPr>
          <p:nvPr/>
        </p:nvSpPr>
        <p:spPr>
          <a:xfrm>
            <a:off x="6886575" y="42005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Conteúdo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4DEE0F1-ED61-4B93-B405-3D77046DB2A3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3143250"/>
          </a:xfrm>
          <a:prstGeom prst="rect">
            <a:avLst/>
          </a:prstGeom>
          <a:solidFill>
            <a:srgbClr val="DCE2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8C85102-EFFB-4BEB-885E-9A23B8CB5880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6489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9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Primeiro construímos a fundação. Depois escalamos a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172677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2864A4FA-4353-463B-8AD4-B8110A77F98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C85E5A-AB79-4533-A3C4-D58C658286A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7586EA-FEC0-4588-AE10-58FBEAEB8B2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evolução acontece na ordem certa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3002DA-2B7B-4BBB-A2CA-FCDD49D32ED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238500" cy="3381375"/>
          </a:xfrm>
          <a:prstGeom prst="roundRect">
            <a:avLst>
              <a:gd name="adj" fmla="val 2353"/>
            </a:avLst>
          </a:prstGeom>
          <a:solidFill>
            <a:srgbClr val="101A1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0A5274-F64F-4BC4-9074-F1F16B7F15DA}"/>
              </a:ext>
            </a:extLst>
          </p:cNvPr>
          <p:cNvSpPr>
            <a:spLocks noGrp="1"/>
          </p:cNvSpPr>
          <p:nvPr/>
        </p:nvSpPr>
        <p:spPr>
          <a:xfrm>
            <a:off x="847725" y="1952625"/>
            <a:ext cx="13811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FASE 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58C30A-8976-4CB4-A19A-188025C537B3}"/>
              </a:ext>
            </a:extLst>
          </p:cNvPr>
          <p:cNvSpPr>
            <a:spLocks noGrp="1"/>
          </p:cNvSpPr>
          <p:nvPr/>
        </p:nvSpPr>
        <p:spPr>
          <a:xfrm>
            <a:off x="2371725" y="1952625"/>
            <a:ext cx="11906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105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AGORA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2329C8-A8FA-4F07-AEDD-F54CE4EF4354}"/>
              </a:ext>
            </a:extLst>
          </p:cNvPr>
          <p:cNvSpPr>
            <a:spLocks noGrp="1"/>
          </p:cNvSpPr>
          <p:nvPr/>
        </p:nvSpPr>
        <p:spPr>
          <a:xfrm>
            <a:off x="847725" y="24574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COMUNICAÇÃO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D0B6F8B-D8D4-4D9C-ABD8-FAF7460602FF}"/>
              </a:ext>
            </a:extLst>
          </p:cNvPr>
          <p:cNvSpPr>
            <a:spLocks noGrp="1"/>
          </p:cNvSpPr>
          <p:nvPr/>
        </p:nvSpPr>
        <p:spPr>
          <a:xfrm>
            <a:off x="847725" y="31908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rPr>
              <a:t>Posicionamento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99D1489-5768-4186-B444-EA740F8F1361}"/>
              </a:ext>
            </a:extLst>
          </p:cNvPr>
          <p:cNvSpPr>
            <a:spLocks noGrp="1"/>
          </p:cNvSpPr>
          <p:nvPr/>
        </p:nvSpPr>
        <p:spPr>
          <a:xfrm>
            <a:off x="847725" y="35433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rPr>
              <a:t>Fundador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1B4071-AEEC-4807-A52C-01B767120A85}"/>
              </a:ext>
            </a:extLst>
          </p:cNvPr>
          <p:cNvSpPr>
            <a:spLocks noGrp="1"/>
          </p:cNvSpPr>
          <p:nvPr/>
        </p:nvSpPr>
        <p:spPr>
          <a:xfrm>
            <a:off x="847725" y="38957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rPr>
              <a:t>Conteúdo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398E96E-7DF1-466C-ADCA-1816F6CC47EB}"/>
              </a:ext>
            </a:extLst>
          </p:cNvPr>
          <p:cNvSpPr>
            <a:spLocks noGrp="1"/>
          </p:cNvSpPr>
          <p:nvPr/>
        </p:nvSpPr>
        <p:spPr>
          <a:xfrm>
            <a:off x="847725" y="42481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rPr>
              <a:t>Audiovisual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9F9AC3C-0995-45DD-94BC-A608D2DB68CA}"/>
              </a:ext>
            </a:extLst>
          </p:cNvPr>
          <p:cNvSpPr>
            <a:spLocks noGrp="1"/>
          </p:cNvSpPr>
          <p:nvPr/>
        </p:nvSpPr>
        <p:spPr>
          <a:xfrm>
            <a:off x="847725" y="46005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D8D3"/>
                </a:solidFill>
                <a:latin typeface="DejaVu Sans"/>
                <a:ea typeface="DejaVu Sans"/>
                <a:cs typeface="DejaVu Sans"/>
              </a:rPr>
              <a:t>Site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6739B4B-1BB2-4168-B2B7-D2431FF5466F}"/>
              </a:ext>
            </a:extLst>
          </p:cNvPr>
          <p:cNvSpPr>
            <a:spLocks noGrp="1"/>
          </p:cNvSpPr>
          <p:nvPr/>
        </p:nvSpPr>
        <p:spPr>
          <a:xfrm>
            <a:off x="3848100" y="30289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1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2C0E691-1F00-4BA6-A792-C3ADCD351F49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3238500" cy="338137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FF2D271-22E7-48A1-95F5-D63A0EFD8E95}"/>
              </a:ext>
            </a:extLst>
          </p:cNvPr>
          <p:cNvSpPr>
            <a:spLocks noGrp="1"/>
          </p:cNvSpPr>
          <p:nvPr/>
        </p:nvSpPr>
        <p:spPr>
          <a:xfrm>
            <a:off x="4562475" y="1952625"/>
            <a:ext cx="13811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FASE 02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92BCD7B-3C0A-451B-A0B5-7F8125707758}"/>
              </a:ext>
            </a:extLst>
          </p:cNvPr>
          <p:cNvSpPr>
            <a:spLocks noGrp="1"/>
          </p:cNvSpPr>
          <p:nvPr/>
        </p:nvSpPr>
        <p:spPr>
          <a:xfrm>
            <a:off x="6086475" y="1952625"/>
            <a:ext cx="11906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C8F4204-3B4F-4117-B5E5-EBC645CDE348}"/>
              </a:ext>
            </a:extLst>
          </p:cNvPr>
          <p:cNvSpPr>
            <a:spLocks noGrp="1"/>
          </p:cNvSpPr>
          <p:nvPr/>
        </p:nvSpPr>
        <p:spPr>
          <a:xfrm>
            <a:off x="4562475" y="24574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AQUISIÇÃO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D3A5E10-82F8-4F46-9C06-C1867D6CC963}"/>
              </a:ext>
            </a:extLst>
          </p:cNvPr>
          <p:cNvSpPr>
            <a:spLocks noGrp="1"/>
          </p:cNvSpPr>
          <p:nvPr/>
        </p:nvSpPr>
        <p:spPr>
          <a:xfrm>
            <a:off x="4562475" y="31908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Google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B3FF3AF-70A8-401D-A070-3ADCFD8334BD}"/>
              </a:ext>
            </a:extLst>
          </p:cNvPr>
          <p:cNvSpPr>
            <a:spLocks noGrp="1"/>
          </p:cNvSpPr>
          <p:nvPr/>
        </p:nvSpPr>
        <p:spPr>
          <a:xfrm>
            <a:off x="4562475" y="35433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Google Ads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38689D1-7F0F-4E5E-B868-0E0D15F26722}"/>
              </a:ext>
            </a:extLst>
          </p:cNvPr>
          <p:cNvSpPr>
            <a:spLocks noGrp="1"/>
          </p:cNvSpPr>
          <p:nvPr/>
        </p:nvSpPr>
        <p:spPr>
          <a:xfrm>
            <a:off x="4562475" y="38957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Mídia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733AFDD-88E6-4F66-9B2E-F5183782B0CC}"/>
              </a:ext>
            </a:extLst>
          </p:cNvPr>
          <p:cNvSpPr>
            <a:spLocks noGrp="1"/>
          </p:cNvSpPr>
          <p:nvPr/>
        </p:nvSpPr>
        <p:spPr>
          <a:xfrm>
            <a:off x="4562475" y="42481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Campanhas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AA1359F-CD68-4B4C-AD39-609A08A5D36C}"/>
              </a:ext>
            </a:extLst>
          </p:cNvPr>
          <p:cNvSpPr>
            <a:spLocks noGrp="1"/>
          </p:cNvSpPr>
          <p:nvPr/>
        </p:nvSpPr>
        <p:spPr>
          <a:xfrm>
            <a:off x="4562475" y="46005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Distribuição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3F017D2-3153-4F2E-961E-2114FE60F2C4}"/>
              </a:ext>
            </a:extLst>
          </p:cNvPr>
          <p:cNvSpPr>
            <a:spLocks noGrp="1"/>
          </p:cNvSpPr>
          <p:nvPr/>
        </p:nvSpPr>
        <p:spPr>
          <a:xfrm>
            <a:off x="7562850" y="302895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1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2F0B2A6-AE24-4700-AFBE-37A6A67708D7}"/>
              </a:ext>
            </a:extLst>
          </p:cNvPr>
          <p:cNvSpPr>
            <a:spLocks noGrp="1"/>
          </p:cNvSpPr>
          <p:nvPr/>
        </p:nvSpPr>
        <p:spPr>
          <a:xfrm>
            <a:off x="8039100" y="1714500"/>
            <a:ext cx="3238500" cy="338137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5B832C9-821D-4E7A-ABD1-5E85C93B03C0}"/>
              </a:ext>
            </a:extLst>
          </p:cNvPr>
          <p:cNvSpPr>
            <a:spLocks noGrp="1"/>
          </p:cNvSpPr>
          <p:nvPr/>
        </p:nvSpPr>
        <p:spPr>
          <a:xfrm>
            <a:off x="8277225" y="1952625"/>
            <a:ext cx="13811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FASE 03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10F079-B87D-44CD-A38E-968D998B46B2}"/>
              </a:ext>
            </a:extLst>
          </p:cNvPr>
          <p:cNvSpPr>
            <a:spLocks noGrp="1"/>
          </p:cNvSpPr>
          <p:nvPr/>
        </p:nvSpPr>
        <p:spPr>
          <a:xfrm>
            <a:off x="9801225" y="1952625"/>
            <a:ext cx="119062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BCCEABA-4A2E-41B0-AF5F-87BC789F341D}"/>
              </a:ext>
            </a:extLst>
          </p:cNvPr>
          <p:cNvSpPr>
            <a:spLocks noGrp="1"/>
          </p:cNvSpPr>
          <p:nvPr/>
        </p:nvSpPr>
        <p:spPr>
          <a:xfrm>
            <a:off x="8277225" y="24574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ESTRUTURA INTERNA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5AE998B-4FEA-4EF1-91DE-C1C770F125F7}"/>
              </a:ext>
            </a:extLst>
          </p:cNvPr>
          <p:cNvSpPr>
            <a:spLocks noGrp="1"/>
          </p:cNvSpPr>
          <p:nvPr/>
        </p:nvSpPr>
        <p:spPr>
          <a:xfrm>
            <a:off x="8277225" y="31908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Marketing interno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F1C3867-5B74-4A79-A392-C45E8E906447}"/>
              </a:ext>
            </a:extLst>
          </p:cNvPr>
          <p:cNvSpPr>
            <a:spLocks noGrp="1"/>
          </p:cNvSpPr>
          <p:nvPr/>
        </p:nvSpPr>
        <p:spPr>
          <a:xfrm>
            <a:off x="8277225" y="35433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Social Media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8D2CC15-CB43-4443-9F72-9A4CB145158A}"/>
              </a:ext>
            </a:extLst>
          </p:cNvPr>
          <p:cNvSpPr>
            <a:spLocks noGrp="1"/>
          </p:cNvSpPr>
          <p:nvPr/>
        </p:nvSpPr>
        <p:spPr>
          <a:xfrm>
            <a:off x="8277225" y="38957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Aquisição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E467E51-CCC4-4270-983C-C4CB3D5C34EE}"/>
              </a:ext>
            </a:extLst>
          </p:cNvPr>
          <p:cNvSpPr>
            <a:spLocks noGrp="1"/>
          </p:cNvSpPr>
          <p:nvPr/>
        </p:nvSpPr>
        <p:spPr>
          <a:xfrm>
            <a:off x="8277225" y="42481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CRM e SDR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7875A71-B73F-4A98-98ED-872D06AFFF95}"/>
              </a:ext>
            </a:extLst>
          </p:cNvPr>
          <p:cNvSpPr>
            <a:spLocks noGrp="1"/>
          </p:cNvSpPr>
          <p:nvPr/>
        </p:nvSpPr>
        <p:spPr>
          <a:xfrm>
            <a:off x="8277225" y="460057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Sistema comercial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CB39BB7-350D-4926-AD59-F11FEE9882EC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6489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Não precisamos construir tudo ao mesmo tempo.</a:t>
            </a:r>
          </a:p>
        </p:txBody>
      </p:sp>
    </p:spTree>
    <p:extLst>
      <p:ext uri="{BB962C8B-B14F-4D97-AF65-F5344CB8AC3E}">
        <p14:creationId xmlns:p14="http://schemas.microsoft.com/office/powerpoint/2010/main" val="1072975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E9BBD5C-DC92-4BA7-A176-1C246C519B9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1908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6FA915-95BD-4CAC-AD19-B16F9E5DE81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EA76B0-AD4F-4028-9933-C77FA352C88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Antes de comprar atenção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3093D7-B2ED-49E1-83F8-2E28E10A0C00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TRÁFEGO</a:t>
            </a:r>
          </a:p>
          <a:p>
            <a:pPr algn="l"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AMPLIFICA.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03163F-1C51-4FA7-A9CE-D82424647BF2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5143500" cy="1333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COMUNICAÇÃO</a:t>
            </a:r>
          </a:p>
          <a:p>
            <a:pPr algn="l">
              <a:defRPr sz="3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CONVERTE PERCEPÇÃO.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D6E5674-69A3-49AB-84C0-6B3223C64C8D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10648950" cy="28575"/>
          </a:xfrm>
          <a:prstGeom prst="rect">
            <a:avLst/>
          </a:prstGeom>
          <a:solidFill>
            <a:srgbClr val="34433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5C9D9A-08CB-4BA9-A862-87A750779AD1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PRIMEIRO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2C5E8D-51FB-48EF-ACD0-278A676F4B1A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D2DAD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2DAD6"/>
                </a:solidFill>
                <a:latin typeface="DejaVu Sans"/>
                <a:ea typeface="DejaVu Sans"/>
                <a:cs typeface="DejaVu Sans"/>
              </a:rPr>
              <a:t>Mensagem  ·  Posicionamento  ·  Conteúdo  ·  Presença  ·  Site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1A2AC5B-A88A-42B7-97A0-641B39F01ADF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A5F3D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5F3D0"/>
                </a:solidFill>
                <a:latin typeface="DejaVu Sans"/>
                <a:ea typeface="DejaVu Sans"/>
                <a:cs typeface="DejaVu Sans"/>
              </a:rPr>
              <a:t>DEPOIS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7614EA-9A2F-465F-8DAC-1D22B9633E21}"/>
              </a:ext>
            </a:extLst>
          </p:cNvPr>
          <p:cNvSpPr>
            <a:spLocks noGrp="1"/>
          </p:cNvSpPr>
          <p:nvPr/>
        </p:nvSpPr>
        <p:spPr>
          <a:xfrm>
            <a:off x="6477000" y="436245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D2DAD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2DAD6"/>
                </a:solidFill>
                <a:latin typeface="DejaVu Sans"/>
                <a:ea typeface="DejaVu Sans"/>
                <a:cs typeface="DejaVu Sans"/>
              </a:rPr>
              <a:t>Distribuição  ·  Google  ·  Mídia  ·  Aquisição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191B3C3-5ED1-4593-8611-834E49AFE318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6489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Mídia sobre comunicação desorganizada apenas acelera a desorganização.</a:t>
            </a:r>
          </a:p>
        </p:txBody>
      </p:sp>
    </p:spTree>
    <p:extLst>
      <p:ext uri="{BB962C8B-B14F-4D97-AF65-F5344CB8AC3E}">
        <p14:creationId xmlns:p14="http://schemas.microsoft.com/office/powerpoint/2010/main" val="1590531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47B98B12-AB38-4325-9456-C2F018BA0AC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929C9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20740A-8887-41C7-9A7B-7598242C7B5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CONNECTE EXPRESS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CFFCDA-4CA9-42FA-BA1D-99228530ECD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A Connecte passa a ter voz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6874FB-E394-48CC-AEAD-9D421629AFB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HOJE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EFB4667-6B34-4569-A2E6-00448F929DC8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DEPOIS DO PRIMEIRO CICLO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D7A156A-2F61-494D-8049-C66DAC27EA70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4FD684-94A9-4D69-84E7-895AFF11B8BD}"/>
              </a:ext>
            </a:extLst>
          </p:cNvPr>
          <p:cNvSpPr>
            <a:spLocks noGrp="1"/>
          </p:cNvSpPr>
          <p:nvPr/>
        </p:nvSpPr>
        <p:spPr>
          <a:xfrm>
            <a:off x="82867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Comunicação estática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6FCDB-90E7-46B3-89A3-37DB08D66DCB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5E2021-0FD7-4E47-A1F6-0D20BA7CDE60}"/>
              </a:ext>
            </a:extLst>
          </p:cNvPr>
          <p:cNvSpPr>
            <a:spLocks noGrp="1"/>
          </p:cNvSpPr>
          <p:nvPr/>
        </p:nvSpPr>
        <p:spPr>
          <a:xfrm>
            <a:off x="828675" y="25908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Baixa presença do fundador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E69F956-0EAC-461D-870B-463862960870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5E5B09-9AC8-4B07-9F72-BEE11B14C19D}"/>
              </a:ext>
            </a:extLst>
          </p:cNvPr>
          <p:cNvSpPr>
            <a:spLocks noGrp="1"/>
          </p:cNvSpPr>
          <p:nvPr/>
        </p:nvSpPr>
        <p:spPr>
          <a:xfrm>
            <a:off x="828675" y="30384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Site defasado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DDA4BE3-6A6C-4870-B415-0809BD3D3D29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F54A885-D35C-4C80-8F77-381B053D584D}"/>
              </a:ext>
            </a:extLst>
          </p:cNvPr>
          <p:cNvSpPr>
            <a:spLocks noGrp="1"/>
          </p:cNvSpPr>
          <p:nvPr/>
        </p:nvSpPr>
        <p:spPr>
          <a:xfrm>
            <a:off x="828675" y="34861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Conteúdo esporádico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CD3628-7721-4222-97C6-BF880639FFBA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534F857-0A9C-487F-BE3D-EB062496ED22}"/>
              </a:ext>
            </a:extLst>
          </p:cNvPr>
          <p:cNvSpPr>
            <a:spLocks noGrp="1"/>
          </p:cNvSpPr>
          <p:nvPr/>
        </p:nvSpPr>
        <p:spPr>
          <a:xfrm>
            <a:off x="828675" y="39338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Conhecimento preso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9E9EFF0-FEAF-45F0-B3F2-2E2B4A0C4CAE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CEBA285-85C6-4D25-A0F3-ACC2264B2928}"/>
              </a:ext>
            </a:extLst>
          </p:cNvPr>
          <p:cNvSpPr>
            <a:spLocks noGrp="1"/>
          </p:cNvSpPr>
          <p:nvPr/>
        </p:nvSpPr>
        <p:spPr>
          <a:xfrm>
            <a:off x="828675" y="43815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E7873"/>
                </a:solidFill>
                <a:latin typeface="DejaVu Sans"/>
                <a:ea typeface="DejaVu Sans"/>
                <a:cs typeface="DejaVu Sans"/>
              </a:rPr>
              <a:t>Dependência de terceiros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A55FC88-32F6-4D85-BA70-B0FECF270C58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DB84908-0FA6-4F01-B507-A0A4BF1E7833}"/>
              </a:ext>
            </a:extLst>
          </p:cNvPr>
          <p:cNvSpPr>
            <a:spLocks noGrp="1"/>
          </p:cNvSpPr>
          <p:nvPr/>
        </p:nvSpPr>
        <p:spPr>
          <a:xfrm>
            <a:off x="6886575" y="21431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Posicionamento definido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AF2B115-772C-4435-BEA5-968C60410B7E}"/>
              </a:ext>
            </a:extLst>
          </p:cNvPr>
          <p:cNvSpPr>
            <a:spLocks noGrp="1"/>
          </p:cNvSpPr>
          <p:nvPr/>
        </p:nvSpPr>
        <p:spPr>
          <a:xfrm>
            <a:off x="6667500" y="26955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01EAA05-59E3-4C44-987B-5B89027B30DE}"/>
              </a:ext>
            </a:extLst>
          </p:cNvPr>
          <p:cNvSpPr>
            <a:spLocks noGrp="1"/>
          </p:cNvSpPr>
          <p:nvPr/>
        </p:nvSpPr>
        <p:spPr>
          <a:xfrm>
            <a:off x="6886575" y="25908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Fundador desenvolvido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793D298-1564-4859-B933-80A6EB98CE7C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C78FA99-C375-488F-A0CF-BE20E709EEB2}"/>
              </a:ext>
            </a:extLst>
          </p:cNvPr>
          <p:cNvSpPr>
            <a:spLocks noGrp="1"/>
          </p:cNvSpPr>
          <p:nvPr/>
        </p:nvSpPr>
        <p:spPr>
          <a:xfrm>
            <a:off x="6886575" y="303847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Narrativa estruturada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711292F-CFE9-4CCD-B52A-E2403EA8C368}"/>
              </a:ext>
            </a:extLst>
          </p:cNvPr>
          <p:cNvSpPr>
            <a:spLocks noGrp="1"/>
          </p:cNvSpPr>
          <p:nvPr/>
        </p:nvSpPr>
        <p:spPr>
          <a:xfrm>
            <a:off x="6667500" y="359092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FA4355B-874B-4D51-8098-395505BD8736}"/>
              </a:ext>
            </a:extLst>
          </p:cNvPr>
          <p:cNvSpPr>
            <a:spLocks noGrp="1"/>
          </p:cNvSpPr>
          <p:nvPr/>
        </p:nvSpPr>
        <p:spPr>
          <a:xfrm>
            <a:off x="6886575" y="348615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Conteúdo audiovisual recorrente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11ED190-9C39-47E6-8569-6DDE25D0ACB8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C7C4271-2FA7-4A15-9F5C-511ADACBBAE7}"/>
              </a:ext>
            </a:extLst>
          </p:cNvPr>
          <p:cNvSpPr>
            <a:spLocks noGrp="1"/>
          </p:cNvSpPr>
          <p:nvPr/>
        </p:nvSpPr>
        <p:spPr>
          <a:xfrm>
            <a:off x="6886575" y="3933825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Site alinhado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2EA99B4-3964-4906-8AC9-A17DFEC64491}"/>
              </a:ext>
            </a:extLst>
          </p:cNvPr>
          <p:cNvSpPr>
            <a:spLocks noGrp="1"/>
          </p:cNvSpPr>
          <p:nvPr/>
        </p:nvSpPr>
        <p:spPr>
          <a:xfrm>
            <a:off x="6667500" y="4486275"/>
            <a:ext cx="66675" cy="66675"/>
          </a:xfrm>
          <a:prstGeom prst="ellipse">
            <a:avLst/>
          </a:prstGeom>
          <a:solidFill>
            <a:srgbClr val="34C9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2DF80CE-813E-427E-8031-AF029023B375}"/>
              </a:ext>
            </a:extLst>
          </p:cNvPr>
          <p:cNvSpPr>
            <a:spLocks noGrp="1"/>
          </p:cNvSpPr>
          <p:nvPr/>
        </p:nvSpPr>
        <p:spPr>
          <a:xfrm>
            <a:off x="6886575" y="4381500"/>
            <a:ext cx="45434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11D"/>
                </a:solidFill>
                <a:latin typeface="DejaVu Sans"/>
                <a:ea typeface="DejaVu Sans"/>
                <a:cs typeface="DejaVu Sans"/>
              </a:rPr>
              <a:t>Banco de conteúdo e autonomia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ADB4589-DC3A-447C-8DBF-AA76376A2D8C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3143250"/>
          </a:xfrm>
          <a:prstGeom prst="rect">
            <a:avLst/>
          </a:prstGeom>
          <a:solidFill>
            <a:srgbClr val="DCE2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1667FD1-44F2-41A3-B841-7FE1DDF6773C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6489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34C98A"/>
                </a:solidFill>
                <a:latin typeface="DejaVu Sans"/>
                <a:ea typeface="DejaVu Sans"/>
                <a:cs typeface="DejaVu Sans"/>
              </a:rPr>
              <a:t>UMA NOVA CAPACIDADE DE COMUNICAÇÃO.</a:t>
            </a:r>
          </a:p>
        </p:txBody>
      </p:sp>
    </p:spTree>
    <p:extLst>
      <p:ext uri="{BB962C8B-B14F-4D97-AF65-F5344CB8AC3E}">
        <p14:creationId xmlns:p14="http://schemas.microsoft.com/office/powerpoint/2010/main" val="13749046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Microsoft Office PowerPoint</Application>
  <DocSecurity>0</DocSecurity>
  <PresentationFormat>Widescreen</PresentationFormat>
  <Paragraphs>402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Aptos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Connect Santana</cp:lastModifiedBy>
  <cp:revision>1</cp:revision>
  <dcterms:created xsi:type="dcterms:W3CDTF">2026-09-28T14:54:43Z</dcterms:created>
  <dcterms:modified xsi:type="dcterms:W3CDTF">2026-10-06T00:08:12Z</dcterms:modified>
</cp:coreProperties>
</file>